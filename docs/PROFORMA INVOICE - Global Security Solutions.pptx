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7556500" cy="10693400"/>
  <p:notesSz cx="6858000" cy="9144000"/>
  <p:embeddedFontLst>
    <p:embeddedFont>
      <p:font typeface="Montserrat Bold" charset="1" panose="00000800000000000000"/>
      <p:regular r:id="rId14"/>
    </p:embeddedFont>
    <p:embeddedFont>
      <p:font typeface="Montserrat"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embeddings/oleObject1.bin" Type="http://schemas.openxmlformats.org/officeDocument/2006/relationships/oleObject"/><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https://gssolutions.co.za" TargetMode="External" Type="http://schemas.openxmlformats.org/officeDocument/2006/relationships/hyperlink"/><Relationship Id="rId11" Target="https://gssolutions.co.za" TargetMode="External" Type="http://schemas.openxmlformats.org/officeDocument/2006/relationships/hyperlink"/><Relationship Id="rId12" Target="https://gssolutions.co.za" TargetMode="External" Type="http://schemas.openxmlformats.org/officeDocument/2006/relationships/hyperlink"/><Relationship Id="rId13" Target="mailto:Kyle@GSSolutions.co.za" TargetMode="External" Type="http://schemas.openxmlformats.org/officeDocument/2006/relationships/hyperlink"/><Relationship Id="rId2" Target="../media/image4.png" Type="http://schemas.openxmlformats.org/officeDocument/2006/relationships/image"/><Relationship Id="rId3" Target="../media/image3.png" Type="http://schemas.openxmlformats.org/officeDocument/2006/relationships/image"/><Relationship Id="rId4" Target="https://gssolutions.co.za" TargetMode="External" Type="http://schemas.openxmlformats.org/officeDocument/2006/relationships/hyperlink"/><Relationship Id="rId5" Target="https://gssolutions.co.za" TargetMode="External" Type="http://schemas.openxmlformats.org/officeDocument/2006/relationships/hyperlink"/><Relationship Id="rId6" Target="https://gssolutions.co.za" TargetMode="External" Type="http://schemas.openxmlformats.org/officeDocument/2006/relationships/hyperlink"/><Relationship Id="rId7" Target="https://gssolutions.co.za" TargetMode="External" Type="http://schemas.openxmlformats.org/officeDocument/2006/relationships/hyperlink"/><Relationship Id="rId8" Target="https://gssolutions.co.za" TargetMode="External" Type="http://schemas.openxmlformats.org/officeDocument/2006/relationships/hyperlink"/><Relationship Id="rId9" Target="https://gssolutions.co.za"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6705" y="2746321"/>
            <a:ext cx="7426591" cy="0"/>
          </a:xfrm>
          <a:prstGeom prst="line">
            <a:avLst/>
          </a:prstGeom>
          <a:ln cap="flat" w="19050">
            <a:solidFill>
              <a:srgbClr val="000000"/>
            </a:solidFill>
            <a:prstDash val="solid"/>
            <a:headEnd type="none" len="sm" w="sm"/>
            <a:tailEnd type="none" len="sm" w="sm"/>
          </a:ln>
        </p:spPr>
      </p:sp>
      <p:graphicFrame>
        <p:nvGraphicFramePr>
          <p:cNvPr name="Object 3" id="3"/>
          <p:cNvGraphicFramePr/>
          <p:nvPr/>
        </p:nvGraphicFramePr>
        <p:xfrm>
          <a:off x="195223" y="3063977"/>
          <a:ext cx="7043048" cy="4943130"/>
        </p:xfrm>
        <a:graphic>
          <a:graphicData uri="http://schemas.openxmlformats.org/presentationml/2006/ole">
            <p:oleObj imgW="8445500" imgH="63500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4" id="4"/>
          <p:cNvSpPr/>
          <p:nvPr/>
        </p:nvSpPr>
        <p:spPr>
          <a:xfrm flipH="true" flipV="false" rot="-10737888">
            <a:off x="-100892" y="-1011248"/>
            <a:ext cx="7768083" cy="3494008"/>
          </a:xfrm>
          <a:custGeom>
            <a:avLst/>
            <a:gdLst/>
            <a:ahLst/>
            <a:cxnLst/>
            <a:rect r="r" b="b" t="t" l="l"/>
            <a:pathLst>
              <a:path h="3494008" w="7768083">
                <a:moveTo>
                  <a:pt x="7768083" y="0"/>
                </a:moveTo>
                <a:lnTo>
                  <a:pt x="0" y="0"/>
                </a:lnTo>
                <a:lnTo>
                  <a:pt x="0" y="3494008"/>
                </a:lnTo>
                <a:lnTo>
                  <a:pt x="7768083" y="3494008"/>
                </a:lnTo>
                <a:lnTo>
                  <a:pt x="7768083" y="0"/>
                </a:lnTo>
                <a:close/>
              </a:path>
            </a:pathLst>
          </a:custGeom>
          <a:blipFill>
            <a:blip r:embed="rId4"/>
            <a:stretch>
              <a:fillRect l="0" t="0" r="-8383" b="0"/>
            </a:stretch>
          </a:blipFill>
        </p:spPr>
      </p:sp>
      <p:grpSp>
        <p:nvGrpSpPr>
          <p:cNvPr name="Group 5" id="5"/>
          <p:cNvGrpSpPr/>
          <p:nvPr/>
        </p:nvGrpSpPr>
        <p:grpSpPr>
          <a:xfrm rot="-914768">
            <a:off x="-92907" y="1677820"/>
            <a:ext cx="1580433" cy="555385"/>
            <a:chOff x="0" y="0"/>
            <a:chExt cx="566391" cy="199037"/>
          </a:xfrm>
        </p:grpSpPr>
        <p:sp>
          <p:nvSpPr>
            <p:cNvPr name="Freeform 6" id="6"/>
            <p:cNvSpPr/>
            <p:nvPr/>
          </p:nvSpPr>
          <p:spPr>
            <a:xfrm flipH="false" flipV="false" rot="0">
              <a:off x="0" y="0"/>
              <a:ext cx="566391" cy="199037"/>
            </a:xfrm>
            <a:custGeom>
              <a:avLst/>
              <a:gdLst/>
              <a:ahLst/>
              <a:cxnLst/>
              <a:rect r="r" b="b" t="t" l="l"/>
              <a:pathLst>
                <a:path h="199037" w="566391">
                  <a:moveTo>
                    <a:pt x="0" y="0"/>
                  </a:moveTo>
                  <a:lnTo>
                    <a:pt x="566391" y="0"/>
                  </a:lnTo>
                  <a:lnTo>
                    <a:pt x="566391" y="199037"/>
                  </a:lnTo>
                  <a:lnTo>
                    <a:pt x="0" y="199037"/>
                  </a:lnTo>
                  <a:close/>
                </a:path>
              </a:pathLst>
            </a:custGeom>
            <a:solidFill>
              <a:srgbClr val="FFFFFF"/>
            </a:solidFill>
          </p:spPr>
        </p:sp>
        <p:sp>
          <p:nvSpPr>
            <p:cNvPr name="TextBox 7" id="7"/>
            <p:cNvSpPr txBox="true"/>
            <p:nvPr/>
          </p:nvSpPr>
          <p:spPr>
            <a:xfrm>
              <a:off x="0" y="0"/>
              <a:ext cx="566391" cy="199037"/>
            </a:xfrm>
            <a:prstGeom prst="rect">
              <a:avLst/>
            </a:prstGeom>
          </p:spPr>
          <p:txBody>
            <a:bodyPr anchor="ctr" rtlCol="false" tIns="50800" lIns="50800" bIns="50800" rIns="50800"/>
            <a:lstStyle/>
            <a:p>
              <a:pPr algn="ctr">
                <a:lnSpc>
                  <a:spcPts val="1976"/>
                </a:lnSpc>
              </a:pPr>
            </a:p>
          </p:txBody>
        </p:sp>
      </p:grpSp>
      <p:sp>
        <p:nvSpPr>
          <p:cNvPr name="TextBox 8" id="8"/>
          <p:cNvSpPr txBox="true"/>
          <p:nvPr/>
        </p:nvSpPr>
        <p:spPr>
          <a:xfrm rot="0">
            <a:off x="141572" y="1164490"/>
            <a:ext cx="782666" cy="458017"/>
          </a:xfrm>
          <a:prstGeom prst="rect">
            <a:avLst/>
          </a:prstGeom>
        </p:spPr>
        <p:txBody>
          <a:bodyPr anchor="t" rtlCol="false" tIns="0" lIns="0" bIns="0" rIns="0">
            <a:spAutoFit/>
          </a:bodyPr>
          <a:lstStyle/>
          <a:p>
            <a:pPr algn="l">
              <a:lnSpc>
                <a:spcPts val="1165"/>
              </a:lnSpc>
            </a:pPr>
            <a:r>
              <a:rPr lang="en-US" sz="1404" spc="-87" b="true">
                <a:solidFill>
                  <a:srgbClr val="3A9DE9"/>
                </a:solidFill>
                <a:latin typeface="Montserrat Bold"/>
                <a:ea typeface="Montserrat Bold"/>
                <a:cs typeface="Montserrat Bold"/>
                <a:sym typeface="Montserrat Bold"/>
              </a:rPr>
              <a:t>G</a:t>
            </a:r>
            <a:r>
              <a:rPr lang="en-US" sz="1404" spc="-87" b="true">
                <a:solidFill>
                  <a:srgbClr val="D5DDDC"/>
                </a:solidFill>
                <a:latin typeface="Montserrat Bold"/>
                <a:ea typeface="Montserrat Bold"/>
                <a:cs typeface="Montserrat Bold"/>
                <a:sym typeface="Montserrat Bold"/>
              </a:rPr>
              <a:t>lobal </a:t>
            </a:r>
            <a:r>
              <a:rPr lang="en-US" sz="1404" spc="-87" b="true">
                <a:solidFill>
                  <a:srgbClr val="3A9DE9"/>
                </a:solidFill>
                <a:latin typeface="Montserrat Bold"/>
                <a:ea typeface="Montserrat Bold"/>
                <a:cs typeface="Montserrat Bold"/>
                <a:sym typeface="Montserrat Bold"/>
              </a:rPr>
              <a:t>S</a:t>
            </a:r>
            <a:r>
              <a:rPr lang="en-US" sz="1404" spc="-87" b="true">
                <a:solidFill>
                  <a:srgbClr val="D5DDDC"/>
                </a:solidFill>
                <a:latin typeface="Montserrat Bold"/>
                <a:ea typeface="Montserrat Bold"/>
                <a:cs typeface="Montserrat Bold"/>
                <a:sym typeface="Montserrat Bold"/>
              </a:rPr>
              <a:t>ecurity </a:t>
            </a:r>
            <a:r>
              <a:rPr lang="en-US" sz="1404" spc="-87" b="true">
                <a:solidFill>
                  <a:srgbClr val="3A9DE9"/>
                </a:solidFill>
                <a:latin typeface="Montserrat Bold"/>
                <a:ea typeface="Montserrat Bold"/>
                <a:cs typeface="Montserrat Bold"/>
                <a:sym typeface="Montserrat Bold"/>
              </a:rPr>
              <a:t>S</a:t>
            </a:r>
            <a:r>
              <a:rPr lang="en-US" sz="1404" spc="-87" b="true">
                <a:solidFill>
                  <a:srgbClr val="D5DDDC"/>
                </a:solidFill>
                <a:latin typeface="Montserrat Bold"/>
                <a:ea typeface="Montserrat Bold"/>
                <a:cs typeface="Montserrat Bold"/>
                <a:sym typeface="Montserrat Bold"/>
              </a:rPr>
              <a:t>olutions</a:t>
            </a:r>
          </a:p>
        </p:txBody>
      </p:sp>
      <p:sp>
        <p:nvSpPr>
          <p:cNvPr name="Freeform 9" id="9"/>
          <p:cNvSpPr/>
          <p:nvPr/>
        </p:nvSpPr>
        <p:spPr>
          <a:xfrm flipH="false" flipV="false" rot="0">
            <a:off x="141572" y="12398"/>
            <a:ext cx="2017002" cy="1446717"/>
          </a:xfrm>
          <a:custGeom>
            <a:avLst/>
            <a:gdLst/>
            <a:ahLst/>
            <a:cxnLst/>
            <a:rect r="r" b="b" t="t" l="l"/>
            <a:pathLst>
              <a:path h="1446717" w="2017002">
                <a:moveTo>
                  <a:pt x="0" y="0"/>
                </a:moveTo>
                <a:lnTo>
                  <a:pt x="2017002" y="0"/>
                </a:lnTo>
                <a:lnTo>
                  <a:pt x="2017002" y="1446716"/>
                </a:lnTo>
                <a:lnTo>
                  <a:pt x="0" y="1446716"/>
                </a:lnTo>
                <a:lnTo>
                  <a:pt x="0" y="0"/>
                </a:lnTo>
                <a:close/>
              </a:path>
            </a:pathLst>
          </a:custGeom>
          <a:blipFill>
            <a:blip r:embed="rId5"/>
            <a:stretch>
              <a:fillRect l="-743" t="-2257" r="-94" b="-743"/>
            </a:stretch>
          </a:blipFill>
        </p:spPr>
      </p:sp>
      <p:sp>
        <p:nvSpPr>
          <p:cNvPr name="Freeform 10" id="10"/>
          <p:cNvSpPr/>
          <p:nvPr/>
        </p:nvSpPr>
        <p:spPr>
          <a:xfrm flipH="false" flipV="false" rot="0">
            <a:off x="1695000" y="170320"/>
            <a:ext cx="463574" cy="473056"/>
          </a:xfrm>
          <a:custGeom>
            <a:avLst/>
            <a:gdLst/>
            <a:ahLst/>
            <a:cxnLst/>
            <a:rect r="r" b="b" t="t" l="l"/>
            <a:pathLst>
              <a:path h="473056" w="463574">
                <a:moveTo>
                  <a:pt x="0" y="0"/>
                </a:moveTo>
                <a:lnTo>
                  <a:pt x="463574" y="0"/>
                </a:lnTo>
                <a:lnTo>
                  <a:pt x="463574" y="473056"/>
                </a:lnTo>
                <a:lnTo>
                  <a:pt x="0" y="473056"/>
                </a:lnTo>
                <a:lnTo>
                  <a:pt x="0" y="0"/>
                </a:lnTo>
                <a:close/>
              </a:path>
            </a:pathLst>
          </a:custGeom>
          <a:blipFill>
            <a:blip r:embed="rId5"/>
            <a:stretch>
              <a:fillRect l="-334102" t="-40220" r="-406" b="-171743"/>
            </a:stretch>
          </a:blipFill>
        </p:spPr>
      </p:sp>
      <p:sp>
        <p:nvSpPr>
          <p:cNvPr name="TextBox 11" id="11"/>
          <p:cNvSpPr txBox="true"/>
          <p:nvPr/>
        </p:nvSpPr>
        <p:spPr>
          <a:xfrm rot="0">
            <a:off x="3783150" y="795909"/>
            <a:ext cx="3624833" cy="807548"/>
          </a:xfrm>
          <a:prstGeom prst="rect">
            <a:avLst/>
          </a:prstGeom>
        </p:spPr>
        <p:txBody>
          <a:bodyPr anchor="t" rtlCol="false" tIns="0" lIns="0" bIns="0" rIns="0">
            <a:spAutoFit/>
          </a:bodyPr>
          <a:lstStyle/>
          <a:p>
            <a:pPr algn="r">
              <a:lnSpc>
                <a:spcPts val="3264"/>
              </a:lnSpc>
            </a:pPr>
            <a:r>
              <a:rPr lang="en-US" b="true" sz="2331" spc="-174">
                <a:solidFill>
                  <a:srgbClr val="D5DDDC"/>
                </a:solidFill>
                <a:latin typeface="Montserrat Bold"/>
                <a:ea typeface="Montserrat Bold"/>
                <a:cs typeface="Montserrat Bold"/>
                <a:sym typeface="Montserrat Bold"/>
              </a:rPr>
              <a:t>Date: 22 May 2026</a:t>
            </a:r>
          </a:p>
          <a:p>
            <a:pPr algn="r" marL="0" indent="0" lvl="0">
              <a:lnSpc>
                <a:spcPts val="3264"/>
              </a:lnSpc>
            </a:pPr>
            <a:r>
              <a:rPr lang="en-US" b="true" sz="2331" spc="-174">
                <a:solidFill>
                  <a:srgbClr val="D5DDDC"/>
                </a:solidFill>
                <a:latin typeface="Montserrat Bold"/>
                <a:ea typeface="Montserrat Bold"/>
                <a:cs typeface="Montserrat Bold"/>
                <a:sym typeface="Montserrat Bold"/>
              </a:rPr>
              <a:t>PRO-INV NR: 22526-1</a:t>
            </a:r>
          </a:p>
        </p:txBody>
      </p:sp>
      <p:sp>
        <p:nvSpPr>
          <p:cNvPr name="TextBox 12" id="12"/>
          <p:cNvSpPr txBox="true"/>
          <p:nvPr/>
        </p:nvSpPr>
        <p:spPr>
          <a:xfrm rot="0">
            <a:off x="3828428" y="1818567"/>
            <a:ext cx="3584777" cy="905225"/>
          </a:xfrm>
          <a:prstGeom prst="rect">
            <a:avLst/>
          </a:prstGeom>
        </p:spPr>
        <p:txBody>
          <a:bodyPr anchor="t" rtlCol="false" tIns="0" lIns="0" bIns="0" rIns="0">
            <a:spAutoFit/>
          </a:bodyPr>
          <a:lstStyle/>
          <a:p>
            <a:pPr algn="r" marL="0" indent="0" lvl="0">
              <a:lnSpc>
                <a:spcPts val="2127"/>
              </a:lnSpc>
            </a:pPr>
            <a:r>
              <a:rPr lang="en-US" b="true" sz="2127">
                <a:solidFill>
                  <a:srgbClr val="021B3B"/>
                </a:solidFill>
                <a:latin typeface="Montserrat Bold"/>
                <a:ea typeface="Montserrat Bold"/>
                <a:cs typeface="Montserrat Bold"/>
                <a:sym typeface="Montserrat Bold"/>
              </a:rPr>
              <a:t>From</a:t>
            </a:r>
            <a:r>
              <a:rPr lang="en-US" b="true" sz="2127" u="none">
                <a:solidFill>
                  <a:srgbClr val="021B3B"/>
                </a:solidFill>
                <a:latin typeface="Montserrat Bold"/>
                <a:ea typeface="Montserrat Bold"/>
                <a:cs typeface="Montserrat Bold"/>
                <a:sym typeface="Montserrat Bold"/>
              </a:rPr>
              <a:t>:</a:t>
            </a:r>
          </a:p>
          <a:p>
            <a:pPr algn="r" marL="0" indent="0" lvl="0">
              <a:lnSpc>
                <a:spcPts val="1650"/>
              </a:lnSpc>
            </a:pPr>
            <a:r>
              <a:rPr lang="en-US" sz="1650" u="none">
                <a:solidFill>
                  <a:srgbClr val="021B3B"/>
                </a:solidFill>
                <a:latin typeface="Montserrat"/>
                <a:ea typeface="Montserrat"/>
                <a:cs typeface="Montserrat"/>
                <a:sym typeface="Montserrat"/>
              </a:rPr>
              <a:t>Global Security Solutions</a:t>
            </a:r>
          </a:p>
          <a:p>
            <a:pPr algn="r" marL="0" indent="0" lvl="0">
              <a:lnSpc>
                <a:spcPts val="1650"/>
              </a:lnSpc>
            </a:pPr>
            <a:r>
              <a:rPr lang="en-US" sz="1650" u="none">
                <a:solidFill>
                  <a:srgbClr val="021B3B"/>
                </a:solidFill>
                <a:latin typeface="Montserrat"/>
                <a:ea typeface="Montserrat"/>
                <a:cs typeface="Montserrat"/>
                <a:sym typeface="Montserrat"/>
              </a:rPr>
              <a:t>062 955 8559</a:t>
            </a:r>
          </a:p>
          <a:p>
            <a:pPr algn="r" marL="0" indent="0" lvl="0">
              <a:lnSpc>
                <a:spcPts val="1650"/>
              </a:lnSpc>
            </a:pPr>
            <a:r>
              <a:rPr lang="en-US" sz="1650" u="none">
                <a:solidFill>
                  <a:srgbClr val="021B3B"/>
                </a:solidFill>
                <a:latin typeface="Montserrat"/>
                <a:ea typeface="Montserrat"/>
                <a:cs typeface="Montserrat"/>
                <a:sym typeface="Montserrat"/>
              </a:rPr>
              <a:t>66 Robyn RD, Durbanville</a:t>
            </a:r>
          </a:p>
        </p:txBody>
      </p:sp>
      <p:sp>
        <p:nvSpPr>
          <p:cNvPr name="TextBox 13" id="13"/>
          <p:cNvSpPr txBox="true"/>
          <p:nvPr/>
        </p:nvSpPr>
        <p:spPr>
          <a:xfrm rot="0">
            <a:off x="212221" y="2793946"/>
            <a:ext cx="7119243" cy="201424"/>
          </a:xfrm>
          <a:prstGeom prst="rect">
            <a:avLst/>
          </a:prstGeom>
        </p:spPr>
        <p:txBody>
          <a:bodyPr anchor="t" rtlCol="false" tIns="0" lIns="0" bIns="0" rIns="0">
            <a:spAutoFit/>
          </a:bodyPr>
          <a:lstStyle/>
          <a:p>
            <a:pPr algn="ctr">
              <a:lnSpc>
                <a:spcPts val="1544"/>
              </a:lnSpc>
            </a:pPr>
            <a:r>
              <a:rPr lang="en-US" b="true" sz="1608">
                <a:solidFill>
                  <a:srgbClr val="021B3B"/>
                </a:solidFill>
                <a:latin typeface="Montserrat Bold"/>
                <a:ea typeface="Montserrat Bold"/>
                <a:cs typeface="Montserrat Bold"/>
                <a:sym typeface="Montserrat Bold"/>
              </a:rPr>
              <a:t>REFERENCE: </a:t>
            </a:r>
            <a:r>
              <a:rPr lang="en-US" sz="1608">
                <a:solidFill>
                  <a:srgbClr val="021B3B"/>
                </a:solidFill>
                <a:latin typeface="Montserrat"/>
                <a:ea typeface="Montserrat"/>
                <a:cs typeface="Montserrat"/>
                <a:sym typeface="Montserrat"/>
              </a:rPr>
              <a:t>75 South RD-GATELOCK</a:t>
            </a:r>
          </a:p>
        </p:txBody>
      </p:sp>
      <p:sp>
        <p:nvSpPr>
          <p:cNvPr name="TextBox 14" id="14"/>
          <p:cNvSpPr txBox="true"/>
          <p:nvPr/>
        </p:nvSpPr>
        <p:spPr>
          <a:xfrm rot="0">
            <a:off x="1447861" y="10354526"/>
            <a:ext cx="4664279" cy="337474"/>
          </a:xfrm>
          <a:prstGeom prst="rect">
            <a:avLst/>
          </a:prstGeom>
        </p:spPr>
        <p:txBody>
          <a:bodyPr anchor="t" rtlCol="false" tIns="0" lIns="0" bIns="0" rIns="0">
            <a:spAutoFit/>
          </a:bodyPr>
          <a:lstStyle/>
          <a:p>
            <a:pPr algn="ctr">
              <a:lnSpc>
                <a:spcPts val="2757"/>
              </a:lnSpc>
            </a:pPr>
            <a:r>
              <a:rPr lang="en-US" b="true" sz="1969">
                <a:solidFill>
                  <a:srgbClr val="000000"/>
                </a:solidFill>
                <a:latin typeface="Montserrat Bold"/>
                <a:ea typeface="Montserrat Bold"/>
                <a:cs typeface="Montserrat Bold"/>
                <a:sym typeface="Montserrat Bold"/>
              </a:rPr>
              <a:t>www.</a:t>
            </a:r>
            <a:r>
              <a:rPr lang="en-US" b="true" sz="1969">
                <a:solidFill>
                  <a:srgbClr val="0003FF"/>
                </a:solidFill>
                <a:latin typeface="Montserrat Bold"/>
                <a:ea typeface="Montserrat Bold"/>
                <a:cs typeface="Montserrat Bold"/>
                <a:sym typeface="Montserrat Bold"/>
              </a:rPr>
              <a:t>G</a:t>
            </a:r>
            <a:r>
              <a:rPr lang="en-US" b="true" sz="1969">
                <a:solidFill>
                  <a:srgbClr val="000000"/>
                </a:solidFill>
                <a:latin typeface="Montserrat Bold"/>
                <a:ea typeface="Montserrat Bold"/>
                <a:cs typeface="Montserrat Bold"/>
                <a:sym typeface="Montserrat Bold"/>
              </a:rPr>
              <a:t>lobal</a:t>
            </a:r>
            <a:r>
              <a:rPr lang="en-US" b="true" sz="1969">
                <a:solidFill>
                  <a:srgbClr val="0003FF"/>
                </a:solidFill>
                <a:latin typeface="Montserrat Bold"/>
                <a:ea typeface="Montserrat Bold"/>
                <a:cs typeface="Montserrat Bold"/>
                <a:sym typeface="Montserrat Bold"/>
              </a:rPr>
              <a:t>S</a:t>
            </a:r>
            <a:r>
              <a:rPr lang="en-US" b="true" sz="1969">
                <a:solidFill>
                  <a:srgbClr val="000000"/>
                </a:solidFill>
                <a:latin typeface="Montserrat Bold"/>
                <a:ea typeface="Montserrat Bold"/>
                <a:cs typeface="Montserrat Bold"/>
                <a:sym typeface="Montserrat Bold"/>
              </a:rPr>
              <a:t>ecurity</a:t>
            </a:r>
            <a:r>
              <a:rPr lang="en-US" b="true" sz="1969">
                <a:solidFill>
                  <a:srgbClr val="0003FF"/>
                </a:solidFill>
                <a:latin typeface="Montserrat Bold"/>
                <a:ea typeface="Montserrat Bold"/>
                <a:cs typeface="Montserrat Bold"/>
                <a:sym typeface="Montserrat Bold"/>
              </a:rPr>
              <a:t>S</a:t>
            </a:r>
            <a:r>
              <a:rPr lang="en-US" b="true" sz="1969">
                <a:solidFill>
                  <a:srgbClr val="000000"/>
                </a:solidFill>
                <a:latin typeface="Montserrat Bold"/>
                <a:ea typeface="Montserrat Bold"/>
                <a:cs typeface="Montserrat Bold"/>
                <a:sym typeface="Montserrat Bold"/>
              </a:rPr>
              <a:t>olutions.co.za</a:t>
            </a:r>
          </a:p>
        </p:txBody>
      </p:sp>
      <p:sp>
        <p:nvSpPr>
          <p:cNvPr name="TextBox 15" id="15"/>
          <p:cNvSpPr txBox="true"/>
          <p:nvPr/>
        </p:nvSpPr>
        <p:spPr>
          <a:xfrm rot="0">
            <a:off x="146795" y="1818567"/>
            <a:ext cx="3567779" cy="486125"/>
          </a:xfrm>
          <a:prstGeom prst="rect">
            <a:avLst/>
          </a:prstGeom>
        </p:spPr>
        <p:txBody>
          <a:bodyPr anchor="t" rtlCol="false" tIns="0" lIns="0" bIns="0" rIns="0">
            <a:spAutoFit/>
          </a:bodyPr>
          <a:lstStyle/>
          <a:p>
            <a:pPr algn="l" marL="0" indent="0" lvl="0">
              <a:lnSpc>
                <a:spcPts val="2127"/>
              </a:lnSpc>
            </a:pPr>
            <a:r>
              <a:rPr lang="en-US" b="true" sz="2127" u="none">
                <a:solidFill>
                  <a:srgbClr val="021B3B"/>
                </a:solidFill>
                <a:latin typeface="Montserrat Bold"/>
                <a:ea typeface="Montserrat Bold"/>
                <a:cs typeface="Montserrat Bold"/>
                <a:sym typeface="Montserrat Bold"/>
              </a:rPr>
              <a:t>Bill To:</a:t>
            </a:r>
          </a:p>
          <a:p>
            <a:pPr algn="l" marL="0" indent="0" lvl="0">
              <a:lnSpc>
                <a:spcPts val="1650"/>
              </a:lnSpc>
            </a:pPr>
            <a:r>
              <a:rPr lang="en-US" sz="1650" spc="49" u="none">
                <a:solidFill>
                  <a:srgbClr val="021B3B"/>
                </a:solidFill>
                <a:latin typeface="Montserrat"/>
                <a:ea typeface="Montserrat"/>
                <a:cs typeface="Montserrat"/>
                <a:sym typeface="Montserrat"/>
              </a:rPr>
              <a:t>Big Bay Solutions</a:t>
            </a:r>
          </a:p>
        </p:txBody>
      </p:sp>
      <p:sp>
        <p:nvSpPr>
          <p:cNvPr name="AutoShape 16" id="16"/>
          <p:cNvSpPr/>
          <p:nvPr/>
        </p:nvSpPr>
        <p:spPr>
          <a:xfrm>
            <a:off x="66705" y="2985845"/>
            <a:ext cx="7426591" cy="0"/>
          </a:xfrm>
          <a:prstGeom prst="line">
            <a:avLst/>
          </a:prstGeom>
          <a:ln cap="flat" w="19050">
            <a:solidFill>
              <a:srgbClr val="000000"/>
            </a:solidFill>
            <a:prstDash val="solid"/>
            <a:headEnd type="none" len="sm" w="sm"/>
            <a:tailEnd type="none" len="sm" w="sm"/>
          </a:ln>
        </p:spPr>
      </p:sp>
      <p:sp>
        <p:nvSpPr>
          <p:cNvPr name="TextBox 17" id="17"/>
          <p:cNvSpPr txBox="true"/>
          <p:nvPr/>
        </p:nvSpPr>
        <p:spPr>
          <a:xfrm rot="0">
            <a:off x="6451529" y="10428585"/>
            <a:ext cx="1041766" cy="198882"/>
          </a:xfrm>
          <a:prstGeom prst="rect">
            <a:avLst/>
          </a:prstGeom>
        </p:spPr>
        <p:txBody>
          <a:bodyPr anchor="t" rtlCol="false" tIns="0" lIns="0" bIns="0" rIns="0">
            <a:spAutoFit/>
          </a:bodyPr>
          <a:lstStyle/>
          <a:p>
            <a:pPr algn="r">
              <a:lnSpc>
                <a:spcPts val="1638"/>
              </a:lnSpc>
            </a:pPr>
            <a:r>
              <a:rPr lang="en-US" sz="1170">
                <a:solidFill>
                  <a:srgbClr val="000000"/>
                </a:solidFill>
                <a:latin typeface="Montserrat"/>
                <a:ea typeface="Montserrat"/>
                <a:cs typeface="Montserrat"/>
                <a:sym typeface="Montserrat"/>
              </a:rPr>
              <a:t>PAGE 1 OF 1</a:t>
            </a:r>
          </a:p>
        </p:txBody>
      </p:sp>
      <p:sp>
        <p:nvSpPr>
          <p:cNvPr name="TextBox 18" id="18"/>
          <p:cNvSpPr txBox="true"/>
          <p:nvPr/>
        </p:nvSpPr>
        <p:spPr>
          <a:xfrm rot="0">
            <a:off x="1899511" y="295907"/>
            <a:ext cx="5431954" cy="510717"/>
          </a:xfrm>
          <a:prstGeom prst="rect">
            <a:avLst/>
          </a:prstGeom>
        </p:spPr>
        <p:txBody>
          <a:bodyPr anchor="t" rtlCol="false" tIns="0" lIns="0" bIns="0" rIns="0">
            <a:spAutoFit/>
          </a:bodyPr>
          <a:lstStyle/>
          <a:p>
            <a:pPr algn="r">
              <a:lnSpc>
                <a:spcPts val="3681"/>
              </a:lnSpc>
            </a:pPr>
            <a:r>
              <a:rPr lang="en-US" b="true" sz="4231" spc="-232">
                <a:solidFill>
                  <a:srgbClr val="D5DDDC"/>
                </a:solidFill>
                <a:latin typeface="Montserrat Bold"/>
                <a:ea typeface="Montserrat Bold"/>
                <a:cs typeface="Montserrat Bold"/>
                <a:sym typeface="Montserrat Bold"/>
              </a:rPr>
              <a:t>PROFORMA INVOICE</a:t>
            </a:r>
          </a:p>
        </p:txBody>
      </p:sp>
      <p:grpSp>
        <p:nvGrpSpPr>
          <p:cNvPr name="Group 19" id="19"/>
          <p:cNvGrpSpPr/>
          <p:nvPr/>
        </p:nvGrpSpPr>
        <p:grpSpPr>
          <a:xfrm rot="0">
            <a:off x="1447861" y="9465954"/>
            <a:ext cx="4664279" cy="926672"/>
            <a:chOff x="0" y="0"/>
            <a:chExt cx="6219038" cy="1235562"/>
          </a:xfrm>
        </p:grpSpPr>
        <p:sp>
          <p:nvSpPr>
            <p:cNvPr name="TextBox 20" id="20"/>
            <p:cNvSpPr txBox="true"/>
            <p:nvPr/>
          </p:nvSpPr>
          <p:spPr>
            <a:xfrm rot="0">
              <a:off x="4329439" y="473531"/>
              <a:ext cx="576815" cy="250670"/>
            </a:xfrm>
            <a:prstGeom prst="rect">
              <a:avLst/>
            </a:prstGeom>
          </p:spPr>
          <p:txBody>
            <a:bodyPr anchor="t" rtlCol="false" tIns="0" lIns="0" bIns="0" rIns="0">
              <a:spAutoFit/>
            </a:bodyPr>
            <a:lstStyle/>
            <a:p>
              <a:pPr algn="r">
                <a:lnSpc>
                  <a:spcPts val="1544"/>
                </a:lnSpc>
              </a:pPr>
              <a:r>
                <a:rPr lang="en-US" b="true" sz="1103" spc="-91">
                  <a:solidFill>
                    <a:srgbClr val="000000"/>
                  </a:solidFill>
                  <a:latin typeface="Montserrat Bold"/>
                  <a:ea typeface="Montserrat Bold"/>
                  <a:cs typeface="Montserrat Bold"/>
                  <a:sym typeface="Montserrat Bold"/>
                </a:rPr>
                <a:t>NAME:</a:t>
              </a:r>
            </a:p>
          </p:txBody>
        </p:sp>
        <p:sp>
          <p:nvSpPr>
            <p:cNvPr name="AutoShape 21" id="21"/>
            <p:cNvSpPr/>
            <p:nvPr/>
          </p:nvSpPr>
          <p:spPr>
            <a:xfrm flipV="true">
              <a:off x="4906254" y="721005"/>
              <a:ext cx="1231288" cy="3195"/>
            </a:xfrm>
            <a:prstGeom prst="line">
              <a:avLst/>
            </a:prstGeom>
            <a:ln cap="flat" w="20171">
              <a:solidFill>
                <a:srgbClr val="000000"/>
              </a:solidFill>
              <a:prstDash val="solid"/>
              <a:headEnd type="none" len="sm" w="sm"/>
              <a:tailEnd type="none" len="sm" w="sm"/>
            </a:ln>
          </p:spPr>
        </p:sp>
        <p:sp>
          <p:nvSpPr>
            <p:cNvPr name="TextBox 22" id="22"/>
            <p:cNvSpPr txBox="true"/>
            <p:nvPr/>
          </p:nvSpPr>
          <p:spPr>
            <a:xfrm rot="0">
              <a:off x="4329736" y="93541"/>
              <a:ext cx="518714" cy="250670"/>
            </a:xfrm>
            <a:prstGeom prst="rect">
              <a:avLst/>
            </a:prstGeom>
          </p:spPr>
          <p:txBody>
            <a:bodyPr anchor="t" rtlCol="false" tIns="0" lIns="0" bIns="0" rIns="0">
              <a:spAutoFit/>
            </a:bodyPr>
            <a:lstStyle/>
            <a:p>
              <a:pPr algn="r">
                <a:lnSpc>
                  <a:spcPts val="1544"/>
                </a:lnSpc>
              </a:pPr>
              <a:r>
                <a:rPr lang="en-US" b="true" sz="1103" spc="-91">
                  <a:solidFill>
                    <a:srgbClr val="000000"/>
                  </a:solidFill>
                  <a:latin typeface="Montserrat Bold"/>
                  <a:ea typeface="Montserrat Bold"/>
                  <a:cs typeface="Montserrat Bold"/>
                  <a:sym typeface="Montserrat Bold"/>
                </a:rPr>
                <a:t>DATE:</a:t>
              </a:r>
            </a:p>
          </p:txBody>
        </p:sp>
        <p:sp>
          <p:nvSpPr>
            <p:cNvPr name="AutoShape 23" id="23"/>
            <p:cNvSpPr/>
            <p:nvPr/>
          </p:nvSpPr>
          <p:spPr>
            <a:xfrm>
              <a:off x="4848451" y="344211"/>
              <a:ext cx="1289091" cy="0"/>
            </a:xfrm>
            <a:prstGeom prst="line">
              <a:avLst/>
            </a:prstGeom>
            <a:ln cap="flat" w="20171">
              <a:solidFill>
                <a:srgbClr val="000000"/>
              </a:solidFill>
              <a:prstDash val="solid"/>
              <a:headEnd type="none" len="sm" w="sm"/>
              <a:tailEnd type="none" len="sm" w="sm"/>
            </a:ln>
          </p:spPr>
        </p:sp>
        <p:sp>
          <p:nvSpPr>
            <p:cNvPr name="AutoShape 24" id="24"/>
            <p:cNvSpPr/>
            <p:nvPr/>
          </p:nvSpPr>
          <p:spPr>
            <a:xfrm>
              <a:off x="4795246" y="1103361"/>
              <a:ext cx="1342296" cy="0"/>
            </a:xfrm>
            <a:prstGeom prst="line">
              <a:avLst/>
            </a:prstGeom>
            <a:ln cap="flat" w="20171">
              <a:solidFill>
                <a:srgbClr val="000000"/>
              </a:solidFill>
              <a:prstDash val="solid"/>
              <a:headEnd type="none" len="sm" w="sm"/>
              <a:tailEnd type="none" len="sm" w="sm"/>
            </a:ln>
          </p:spPr>
        </p:sp>
        <p:sp>
          <p:nvSpPr>
            <p:cNvPr name="TextBox 25" id="25"/>
            <p:cNvSpPr txBox="true"/>
            <p:nvPr/>
          </p:nvSpPr>
          <p:spPr>
            <a:xfrm rot="0">
              <a:off x="4330010" y="852691"/>
              <a:ext cx="465236" cy="250670"/>
            </a:xfrm>
            <a:prstGeom prst="rect">
              <a:avLst/>
            </a:prstGeom>
          </p:spPr>
          <p:txBody>
            <a:bodyPr anchor="t" rtlCol="false" tIns="0" lIns="0" bIns="0" rIns="0">
              <a:spAutoFit/>
            </a:bodyPr>
            <a:lstStyle/>
            <a:p>
              <a:pPr algn="r">
                <a:lnSpc>
                  <a:spcPts val="1544"/>
                </a:lnSpc>
              </a:pPr>
              <a:r>
                <a:rPr lang="en-US" b="true" sz="1103" spc="-91">
                  <a:solidFill>
                    <a:srgbClr val="000000"/>
                  </a:solidFill>
                  <a:latin typeface="Montserrat Bold"/>
                  <a:ea typeface="Montserrat Bold"/>
                  <a:cs typeface="Montserrat Bold"/>
                  <a:sym typeface="Montserrat Bold"/>
                </a:rPr>
                <a:t>SIGN:</a:t>
              </a:r>
            </a:p>
          </p:txBody>
        </p:sp>
        <p:grpSp>
          <p:nvGrpSpPr>
            <p:cNvPr name="Group 26" id="26"/>
            <p:cNvGrpSpPr/>
            <p:nvPr/>
          </p:nvGrpSpPr>
          <p:grpSpPr>
            <a:xfrm rot="0">
              <a:off x="0" y="0"/>
              <a:ext cx="4268487" cy="1235562"/>
              <a:chOff x="0" y="0"/>
              <a:chExt cx="1539867" cy="445732"/>
            </a:xfrm>
          </p:grpSpPr>
          <p:sp>
            <p:nvSpPr>
              <p:cNvPr name="Freeform 27" id="27"/>
              <p:cNvSpPr/>
              <p:nvPr/>
            </p:nvSpPr>
            <p:spPr>
              <a:xfrm flipH="false" flipV="false" rot="0">
                <a:off x="0" y="0"/>
                <a:ext cx="1539867" cy="445732"/>
              </a:xfrm>
              <a:custGeom>
                <a:avLst/>
                <a:gdLst/>
                <a:ahLst/>
                <a:cxnLst/>
                <a:rect r="r" b="b" t="t" l="l"/>
                <a:pathLst>
                  <a:path h="445732" w="1539867">
                    <a:moveTo>
                      <a:pt x="0" y="0"/>
                    </a:moveTo>
                    <a:lnTo>
                      <a:pt x="1539867" y="0"/>
                    </a:lnTo>
                    <a:lnTo>
                      <a:pt x="1539867" y="445732"/>
                    </a:lnTo>
                    <a:lnTo>
                      <a:pt x="0" y="445732"/>
                    </a:lnTo>
                    <a:close/>
                  </a:path>
                </a:pathLst>
              </a:custGeom>
              <a:ln w="47625" cap="sq">
                <a:solidFill>
                  <a:srgbClr val="000000"/>
                </a:solidFill>
                <a:prstDash val="solid"/>
                <a:miter/>
              </a:ln>
            </p:spPr>
          </p:sp>
          <p:sp>
            <p:nvSpPr>
              <p:cNvPr name="TextBox 28" id="28"/>
              <p:cNvSpPr txBox="true"/>
              <p:nvPr/>
            </p:nvSpPr>
            <p:spPr>
              <a:xfrm>
                <a:off x="0" y="0"/>
                <a:ext cx="1539867" cy="445732"/>
              </a:xfrm>
              <a:prstGeom prst="rect">
                <a:avLst/>
              </a:prstGeom>
            </p:spPr>
            <p:txBody>
              <a:bodyPr anchor="ctr" rtlCol="false" tIns="47661" lIns="47661" bIns="47661" rIns="47661"/>
              <a:lstStyle/>
              <a:p>
                <a:pPr algn="ctr">
                  <a:lnSpc>
                    <a:spcPts val="1976"/>
                  </a:lnSpc>
                </a:pPr>
              </a:p>
            </p:txBody>
          </p:sp>
        </p:grpSp>
        <p:sp>
          <p:nvSpPr>
            <p:cNvPr name="TextBox 29" id="29"/>
            <p:cNvSpPr txBox="true"/>
            <p:nvPr/>
          </p:nvSpPr>
          <p:spPr>
            <a:xfrm rot="0">
              <a:off x="898739" y="-473"/>
              <a:ext cx="2530654" cy="288515"/>
            </a:xfrm>
            <a:prstGeom prst="rect">
              <a:avLst/>
            </a:prstGeom>
          </p:spPr>
          <p:txBody>
            <a:bodyPr anchor="t" rtlCol="false" tIns="0" lIns="0" bIns="0" rIns="0">
              <a:spAutoFit/>
            </a:bodyPr>
            <a:lstStyle/>
            <a:p>
              <a:pPr algn="ctr" marL="0" indent="0" lvl="0">
                <a:lnSpc>
                  <a:spcPts val="1812"/>
                </a:lnSpc>
                <a:spcBef>
                  <a:spcPct val="0"/>
                </a:spcBef>
              </a:pPr>
              <a:r>
                <a:rPr lang="en-US" b="true" sz="1294" u="sng">
                  <a:solidFill>
                    <a:srgbClr val="000000"/>
                  </a:solidFill>
                  <a:latin typeface="Montserrat Bold"/>
                  <a:ea typeface="Montserrat Bold"/>
                  <a:cs typeface="Montserrat Bold"/>
                  <a:sym typeface="Montserrat Bold"/>
                </a:rPr>
                <a:t>Payment Information:</a:t>
              </a:r>
            </a:p>
          </p:txBody>
        </p:sp>
        <p:sp>
          <p:nvSpPr>
            <p:cNvPr name="TextBox 30" id="30"/>
            <p:cNvSpPr txBox="true"/>
            <p:nvPr/>
          </p:nvSpPr>
          <p:spPr>
            <a:xfrm rot="0">
              <a:off x="27563" y="307124"/>
              <a:ext cx="1666301" cy="897259"/>
            </a:xfrm>
            <a:prstGeom prst="rect">
              <a:avLst/>
            </a:prstGeom>
          </p:spPr>
          <p:txBody>
            <a:bodyPr anchor="t" rtlCol="false" tIns="0" lIns="0" bIns="0" rIns="0">
              <a:spAutoFit/>
            </a:bodyPr>
            <a:lstStyle/>
            <a:p>
              <a:pPr algn="r">
                <a:lnSpc>
                  <a:spcPts val="1062"/>
                </a:lnSpc>
              </a:pPr>
              <a:r>
                <a:rPr lang="en-US" b="true" sz="1041">
                  <a:solidFill>
                    <a:srgbClr val="000000"/>
                  </a:solidFill>
                  <a:latin typeface="Montserrat Bold"/>
                  <a:ea typeface="Montserrat Bold"/>
                  <a:cs typeface="Montserrat Bold"/>
                  <a:sym typeface="Montserrat Bold"/>
                </a:rPr>
                <a:t>Bank:</a:t>
              </a:r>
            </a:p>
            <a:p>
              <a:pPr algn="r">
                <a:lnSpc>
                  <a:spcPts val="1062"/>
                </a:lnSpc>
              </a:pPr>
              <a:r>
                <a:rPr lang="en-US" b="true" sz="1041">
                  <a:solidFill>
                    <a:srgbClr val="000000"/>
                  </a:solidFill>
                  <a:latin typeface="Montserrat Bold"/>
                  <a:ea typeface="Montserrat Bold"/>
                  <a:cs typeface="Montserrat Bold"/>
                  <a:sym typeface="Montserrat Bold"/>
                </a:rPr>
                <a:t>Account Holder:</a:t>
              </a:r>
            </a:p>
            <a:p>
              <a:pPr algn="r">
                <a:lnSpc>
                  <a:spcPts val="1062"/>
                </a:lnSpc>
              </a:pPr>
              <a:r>
                <a:rPr lang="en-US" b="true" sz="1041">
                  <a:solidFill>
                    <a:srgbClr val="000000"/>
                  </a:solidFill>
                  <a:latin typeface="Montserrat Bold"/>
                  <a:ea typeface="Montserrat Bold"/>
                  <a:cs typeface="Montserrat Bold"/>
                  <a:sym typeface="Montserrat Bold"/>
                </a:rPr>
                <a:t>Account Type:</a:t>
              </a:r>
            </a:p>
            <a:p>
              <a:pPr algn="r">
                <a:lnSpc>
                  <a:spcPts val="1062"/>
                </a:lnSpc>
              </a:pPr>
              <a:r>
                <a:rPr lang="en-US" b="true" sz="1041">
                  <a:solidFill>
                    <a:srgbClr val="000000"/>
                  </a:solidFill>
                  <a:latin typeface="Montserrat Bold"/>
                  <a:ea typeface="Montserrat Bold"/>
                  <a:cs typeface="Montserrat Bold"/>
                  <a:sym typeface="Montserrat Bold"/>
                </a:rPr>
                <a:t>Account Number:</a:t>
              </a:r>
            </a:p>
            <a:p>
              <a:pPr algn="r" marL="0" indent="0" lvl="0">
                <a:lnSpc>
                  <a:spcPts val="1062"/>
                </a:lnSpc>
              </a:pPr>
              <a:r>
                <a:rPr lang="en-US" b="true" sz="1041">
                  <a:solidFill>
                    <a:srgbClr val="000000"/>
                  </a:solidFill>
                  <a:latin typeface="Montserrat Bold"/>
                  <a:ea typeface="Montserrat Bold"/>
                  <a:cs typeface="Montserrat Bold"/>
                  <a:sym typeface="Montserrat Bold"/>
                </a:rPr>
                <a:t>Branch Code:</a:t>
              </a:r>
            </a:p>
          </p:txBody>
        </p:sp>
        <p:sp>
          <p:nvSpPr>
            <p:cNvPr name="TextBox 31" id="31"/>
            <p:cNvSpPr txBox="true"/>
            <p:nvPr/>
          </p:nvSpPr>
          <p:spPr>
            <a:xfrm rot="0">
              <a:off x="1720275" y="288074"/>
              <a:ext cx="2496532" cy="915900"/>
            </a:xfrm>
            <a:prstGeom prst="rect">
              <a:avLst/>
            </a:prstGeom>
          </p:spPr>
          <p:txBody>
            <a:bodyPr anchor="t" rtlCol="false" tIns="0" lIns="0" bIns="0" rIns="0">
              <a:spAutoFit/>
            </a:bodyPr>
            <a:lstStyle/>
            <a:p>
              <a:pPr algn="l">
                <a:lnSpc>
                  <a:spcPts val="1103"/>
                </a:lnSpc>
              </a:pPr>
              <a:r>
                <a:rPr lang="en-US" sz="1002" b="true">
                  <a:solidFill>
                    <a:srgbClr val="FF3131"/>
                  </a:solidFill>
                  <a:latin typeface="Montserrat Bold"/>
                  <a:ea typeface="Montserrat Bold"/>
                  <a:cs typeface="Montserrat Bold"/>
                  <a:sym typeface="Montserrat Bold"/>
                </a:rPr>
                <a:t>FNB/RMB</a:t>
              </a:r>
            </a:p>
            <a:p>
              <a:pPr algn="l">
                <a:lnSpc>
                  <a:spcPts val="1103"/>
                </a:lnSpc>
              </a:pPr>
              <a:r>
                <a:rPr lang="en-US" sz="1002" b="true">
                  <a:solidFill>
                    <a:srgbClr val="FF3131"/>
                  </a:solidFill>
                  <a:latin typeface="Montserrat Bold"/>
                  <a:ea typeface="Montserrat Bold"/>
                  <a:cs typeface="Montserrat Bold"/>
                  <a:sym typeface="Montserrat Bold"/>
                </a:rPr>
                <a:t>Global Security Solutions</a:t>
              </a:r>
            </a:p>
            <a:p>
              <a:pPr algn="l">
                <a:lnSpc>
                  <a:spcPts val="1103"/>
                </a:lnSpc>
              </a:pPr>
              <a:r>
                <a:rPr lang="en-US" sz="1002" b="true">
                  <a:solidFill>
                    <a:srgbClr val="FF3131"/>
                  </a:solidFill>
                  <a:latin typeface="Montserrat Bold"/>
                  <a:ea typeface="Montserrat Bold"/>
                  <a:cs typeface="Montserrat Bold"/>
                  <a:sym typeface="Montserrat Bold"/>
                </a:rPr>
                <a:t>First Business Zero Account</a:t>
              </a:r>
            </a:p>
            <a:p>
              <a:pPr algn="l">
                <a:lnSpc>
                  <a:spcPts val="1103"/>
                </a:lnSpc>
              </a:pPr>
              <a:r>
                <a:rPr lang="en-US" sz="1002" b="true">
                  <a:solidFill>
                    <a:srgbClr val="FF3131"/>
                  </a:solidFill>
                  <a:latin typeface="Montserrat Bold"/>
                  <a:ea typeface="Montserrat Bold"/>
                  <a:cs typeface="Montserrat Bold"/>
                  <a:sym typeface="Montserrat Bold"/>
                </a:rPr>
                <a:t>63182000223</a:t>
              </a:r>
            </a:p>
            <a:p>
              <a:pPr algn="l" marL="0" indent="0" lvl="0">
                <a:lnSpc>
                  <a:spcPts val="1103"/>
                </a:lnSpc>
              </a:pPr>
              <a:r>
                <a:rPr lang="en-US" b="true" sz="1002">
                  <a:solidFill>
                    <a:srgbClr val="FF3131"/>
                  </a:solidFill>
                  <a:latin typeface="Montserrat Bold"/>
                  <a:ea typeface="Montserrat Bold"/>
                  <a:cs typeface="Montserrat Bold"/>
                  <a:sym typeface="Montserrat Bold"/>
                </a:rPr>
                <a:t>250655</a:t>
              </a:r>
            </a:p>
          </p:txBody>
        </p:sp>
        <p:grpSp>
          <p:nvGrpSpPr>
            <p:cNvPr name="Group 32" id="32"/>
            <p:cNvGrpSpPr/>
            <p:nvPr/>
          </p:nvGrpSpPr>
          <p:grpSpPr>
            <a:xfrm rot="0">
              <a:off x="4214477" y="0"/>
              <a:ext cx="2004562" cy="1235562"/>
              <a:chOff x="0" y="0"/>
              <a:chExt cx="723151" cy="445732"/>
            </a:xfrm>
          </p:grpSpPr>
          <p:sp>
            <p:nvSpPr>
              <p:cNvPr name="Freeform 33" id="33"/>
              <p:cNvSpPr/>
              <p:nvPr/>
            </p:nvSpPr>
            <p:spPr>
              <a:xfrm flipH="false" flipV="false" rot="0">
                <a:off x="0" y="0"/>
                <a:ext cx="723151" cy="445732"/>
              </a:xfrm>
              <a:custGeom>
                <a:avLst/>
                <a:gdLst/>
                <a:ahLst/>
                <a:cxnLst/>
                <a:rect r="r" b="b" t="t" l="l"/>
                <a:pathLst>
                  <a:path h="445732" w="723151">
                    <a:moveTo>
                      <a:pt x="0" y="0"/>
                    </a:moveTo>
                    <a:lnTo>
                      <a:pt x="723151" y="0"/>
                    </a:lnTo>
                    <a:lnTo>
                      <a:pt x="723151" y="445732"/>
                    </a:lnTo>
                    <a:lnTo>
                      <a:pt x="0" y="445732"/>
                    </a:lnTo>
                    <a:close/>
                  </a:path>
                </a:pathLst>
              </a:custGeom>
              <a:ln w="47625" cap="sq">
                <a:solidFill>
                  <a:srgbClr val="000000"/>
                </a:solidFill>
                <a:prstDash val="solid"/>
                <a:miter/>
              </a:ln>
            </p:spPr>
          </p:sp>
          <p:sp>
            <p:nvSpPr>
              <p:cNvPr name="TextBox 34" id="34"/>
              <p:cNvSpPr txBox="true"/>
              <p:nvPr/>
            </p:nvSpPr>
            <p:spPr>
              <a:xfrm>
                <a:off x="0" y="0"/>
                <a:ext cx="723151" cy="445732"/>
              </a:xfrm>
              <a:prstGeom prst="rect">
                <a:avLst/>
              </a:prstGeom>
            </p:spPr>
            <p:txBody>
              <a:bodyPr anchor="ctr" rtlCol="false" tIns="47661" lIns="47661" bIns="47661" rIns="47661"/>
              <a:lstStyle/>
              <a:p>
                <a:pPr algn="ctr">
                  <a:lnSpc>
                    <a:spcPts val="1976"/>
                  </a:lnSpc>
                </a:pPr>
              </a:p>
            </p:txBody>
          </p:sp>
        </p:gr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F3131"/>
        </a:solidFill>
      </p:bgPr>
    </p:bg>
    <p:spTree>
      <p:nvGrpSpPr>
        <p:cNvPr id="1" name=""/>
        <p:cNvGrpSpPr/>
        <p:nvPr/>
      </p:nvGrpSpPr>
      <p:grpSpPr>
        <a:xfrm>
          <a:off x="0" y="0"/>
          <a:ext cx="0" cy="0"/>
          <a:chOff x="0" y="0"/>
          <a:chExt cx="0" cy="0"/>
        </a:xfrm>
      </p:grpSpPr>
      <p:sp>
        <p:nvSpPr>
          <p:cNvPr name="TextBox 2" id="2"/>
          <p:cNvSpPr txBox="true"/>
          <p:nvPr/>
        </p:nvSpPr>
        <p:spPr>
          <a:xfrm rot="0">
            <a:off x="57150" y="771525"/>
            <a:ext cx="7445700" cy="6104199"/>
          </a:xfrm>
          <a:prstGeom prst="rect">
            <a:avLst/>
          </a:prstGeom>
        </p:spPr>
        <p:txBody>
          <a:bodyPr anchor="t" rtlCol="false" tIns="0" lIns="0" bIns="0" rIns="0">
            <a:spAutoFit/>
          </a:bodyPr>
          <a:lstStyle/>
          <a:p>
            <a:pPr algn="l">
              <a:lnSpc>
                <a:spcPts val="15442"/>
              </a:lnSpc>
            </a:pPr>
            <a:r>
              <a:rPr lang="en-US" b="true" sz="19547" spc="-918">
                <a:solidFill>
                  <a:srgbClr val="D5DDDC"/>
                </a:solidFill>
                <a:latin typeface="Montserrat Bold"/>
                <a:ea typeface="Montserrat Bold"/>
                <a:cs typeface="Montserrat Bold"/>
                <a:sym typeface="Montserrat Bold"/>
              </a:rPr>
              <a:t>DONT MOVE</a:t>
            </a:r>
          </a:p>
          <a:p>
            <a:pPr algn="l">
              <a:lnSpc>
                <a:spcPts val="15442"/>
              </a:lnSpc>
            </a:pPr>
            <a:r>
              <a:rPr lang="en-US" b="true" sz="19547" spc="-918">
                <a:solidFill>
                  <a:srgbClr val="D5DDDC"/>
                </a:solidFill>
                <a:latin typeface="Montserrat Bold"/>
                <a:ea typeface="Montserrat Bold"/>
                <a:cs typeface="Montserrat Bold"/>
                <a:sym typeface="Montserrat Bold"/>
              </a:rPr>
              <a:t>PAGE.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94612" y="4698423"/>
            <a:ext cx="27939" cy="591934"/>
          </a:xfrm>
          <a:prstGeom prst="rect">
            <a:avLst/>
          </a:prstGeom>
        </p:spPr>
        <p:txBody>
          <a:bodyPr anchor="t" rtlCol="false" tIns="0" lIns="0" bIns="0" rIns="0">
            <a:spAutoFit/>
          </a:bodyPr>
          <a:lstStyle/>
          <a:p>
            <a:pPr algn="ctr">
              <a:lnSpc>
                <a:spcPts val="4927"/>
              </a:lnSpc>
              <a:spcBef>
                <a:spcPct val="0"/>
              </a:spcBef>
            </a:pPr>
          </a:p>
        </p:txBody>
      </p:sp>
      <p:sp>
        <p:nvSpPr>
          <p:cNvPr name="TextBox 3" id="3"/>
          <p:cNvSpPr txBox="true"/>
          <p:nvPr/>
        </p:nvSpPr>
        <p:spPr>
          <a:xfrm rot="0">
            <a:off x="3325858" y="741264"/>
            <a:ext cx="9525" cy="198120"/>
          </a:xfrm>
          <a:prstGeom prst="rect">
            <a:avLst/>
          </a:prstGeom>
        </p:spPr>
        <p:txBody>
          <a:bodyPr anchor="t" rtlCol="false" tIns="0" lIns="0" bIns="0" rIns="0">
            <a:spAutoFit/>
          </a:bodyPr>
          <a:lstStyle/>
          <a:p>
            <a:pPr algn="ctr">
              <a:lnSpc>
                <a:spcPts val="1679"/>
              </a:lnSpc>
              <a:spcBef>
                <a:spcPct val="0"/>
              </a:spcBef>
            </a:pPr>
          </a:p>
        </p:txBody>
      </p:sp>
      <p:sp>
        <p:nvSpPr>
          <p:cNvPr name="TextBox 4" id="4"/>
          <p:cNvSpPr txBox="true"/>
          <p:nvPr/>
        </p:nvSpPr>
        <p:spPr>
          <a:xfrm rot="0">
            <a:off x="3325858" y="741264"/>
            <a:ext cx="9525" cy="198120"/>
          </a:xfrm>
          <a:prstGeom prst="rect">
            <a:avLst/>
          </a:prstGeom>
        </p:spPr>
        <p:txBody>
          <a:bodyPr anchor="t" rtlCol="false" tIns="0" lIns="0" bIns="0" rIns="0">
            <a:spAutoFit/>
          </a:bodyPr>
          <a:lstStyle/>
          <a:p>
            <a:pPr algn="ctr">
              <a:lnSpc>
                <a:spcPts val="1679"/>
              </a:lnSpc>
              <a:spcBef>
                <a:spcPct val="0"/>
              </a:spcBef>
            </a:pPr>
          </a:p>
        </p:txBody>
      </p:sp>
      <p:sp>
        <p:nvSpPr>
          <p:cNvPr name="Freeform 5" id="5"/>
          <p:cNvSpPr/>
          <p:nvPr/>
        </p:nvSpPr>
        <p:spPr>
          <a:xfrm flipH="true" flipV="false" rot="10625993">
            <a:off x="-110548" y="-979323"/>
            <a:ext cx="8340832" cy="3461445"/>
          </a:xfrm>
          <a:custGeom>
            <a:avLst/>
            <a:gdLst/>
            <a:ahLst/>
            <a:cxnLst/>
            <a:rect r="r" b="b" t="t" l="l"/>
            <a:pathLst>
              <a:path h="3461445" w="8340832">
                <a:moveTo>
                  <a:pt x="8340832" y="0"/>
                </a:moveTo>
                <a:lnTo>
                  <a:pt x="0" y="0"/>
                </a:lnTo>
                <a:lnTo>
                  <a:pt x="0" y="3461445"/>
                </a:lnTo>
                <a:lnTo>
                  <a:pt x="8340832" y="3461445"/>
                </a:lnTo>
                <a:lnTo>
                  <a:pt x="8340832" y="0"/>
                </a:lnTo>
                <a:close/>
              </a:path>
            </a:pathLst>
          </a:custGeom>
          <a:blipFill>
            <a:blip r:embed="rId2"/>
            <a:stretch>
              <a:fillRect l="0" t="0" r="0" b="0"/>
            </a:stretch>
          </a:blipFill>
        </p:spPr>
      </p:sp>
      <p:sp>
        <p:nvSpPr>
          <p:cNvPr name="TextBox 6" id="6"/>
          <p:cNvSpPr txBox="true"/>
          <p:nvPr/>
        </p:nvSpPr>
        <p:spPr>
          <a:xfrm rot="0">
            <a:off x="2308582" y="153462"/>
            <a:ext cx="5013299" cy="968119"/>
          </a:xfrm>
          <a:prstGeom prst="rect">
            <a:avLst/>
          </a:prstGeom>
        </p:spPr>
        <p:txBody>
          <a:bodyPr anchor="t" rtlCol="false" tIns="0" lIns="0" bIns="0" rIns="0">
            <a:spAutoFit/>
          </a:bodyPr>
          <a:lstStyle/>
          <a:p>
            <a:pPr algn="ctr">
              <a:lnSpc>
                <a:spcPts val="2508"/>
              </a:lnSpc>
            </a:pPr>
            <a:r>
              <a:rPr lang="en-US" b="true" sz="2818" spc="-166">
                <a:solidFill>
                  <a:srgbClr val="D5DDDC"/>
                </a:solidFill>
                <a:latin typeface="Montserrat Bold"/>
                <a:ea typeface="Montserrat Bold"/>
                <a:cs typeface="Montserrat Bold"/>
                <a:sym typeface="Montserrat Bold"/>
              </a:rPr>
              <a:t>GENERAL TERMS </a:t>
            </a:r>
          </a:p>
          <a:p>
            <a:pPr algn="ctr">
              <a:lnSpc>
                <a:spcPts val="2508"/>
              </a:lnSpc>
            </a:pPr>
            <a:r>
              <a:rPr lang="en-US" b="true" sz="2818" spc="-166">
                <a:solidFill>
                  <a:srgbClr val="D5DDDC"/>
                </a:solidFill>
                <a:latin typeface="Montserrat Bold"/>
                <a:ea typeface="Montserrat Bold"/>
                <a:cs typeface="Montserrat Bold"/>
                <a:sym typeface="Montserrat Bold"/>
              </a:rPr>
              <a:t>&amp;</a:t>
            </a:r>
          </a:p>
          <a:p>
            <a:pPr algn="ctr">
              <a:lnSpc>
                <a:spcPts val="2508"/>
              </a:lnSpc>
            </a:pPr>
            <a:r>
              <a:rPr lang="en-US" b="true" sz="2818" spc="-166">
                <a:solidFill>
                  <a:srgbClr val="D5DDDC"/>
                </a:solidFill>
                <a:latin typeface="Montserrat Bold"/>
                <a:ea typeface="Montserrat Bold"/>
                <a:cs typeface="Montserrat Bold"/>
                <a:sym typeface="Montserrat Bold"/>
              </a:rPr>
              <a:t>CONDITIONS OF QUOTATION</a:t>
            </a:r>
          </a:p>
        </p:txBody>
      </p:sp>
      <p:grpSp>
        <p:nvGrpSpPr>
          <p:cNvPr name="Group 7" id="7"/>
          <p:cNvGrpSpPr/>
          <p:nvPr/>
        </p:nvGrpSpPr>
        <p:grpSpPr>
          <a:xfrm rot="-952535">
            <a:off x="-219938" y="1775802"/>
            <a:ext cx="2398419" cy="709703"/>
            <a:chOff x="0" y="0"/>
            <a:chExt cx="859539" cy="254342"/>
          </a:xfrm>
        </p:grpSpPr>
        <p:sp>
          <p:nvSpPr>
            <p:cNvPr name="Freeform 8" id="8"/>
            <p:cNvSpPr/>
            <p:nvPr/>
          </p:nvSpPr>
          <p:spPr>
            <a:xfrm flipH="false" flipV="false" rot="0">
              <a:off x="0" y="0"/>
              <a:ext cx="859539" cy="254342"/>
            </a:xfrm>
            <a:custGeom>
              <a:avLst/>
              <a:gdLst/>
              <a:ahLst/>
              <a:cxnLst/>
              <a:rect r="r" b="b" t="t" l="l"/>
              <a:pathLst>
                <a:path h="254342" w="859539">
                  <a:moveTo>
                    <a:pt x="0" y="0"/>
                  </a:moveTo>
                  <a:lnTo>
                    <a:pt x="859539" y="0"/>
                  </a:lnTo>
                  <a:lnTo>
                    <a:pt x="859539" y="254342"/>
                  </a:lnTo>
                  <a:lnTo>
                    <a:pt x="0" y="254342"/>
                  </a:lnTo>
                  <a:close/>
                </a:path>
              </a:pathLst>
            </a:custGeom>
            <a:solidFill>
              <a:srgbClr val="FFFFFF"/>
            </a:solidFill>
          </p:spPr>
        </p:sp>
        <p:sp>
          <p:nvSpPr>
            <p:cNvPr name="TextBox 9" id="9"/>
            <p:cNvSpPr txBox="true"/>
            <p:nvPr/>
          </p:nvSpPr>
          <p:spPr>
            <a:xfrm>
              <a:off x="0" y="0"/>
              <a:ext cx="859539" cy="254342"/>
            </a:xfrm>
            <a:prstGeom prst="rect">
              <a:avLst/>
            </a:prstGeom>
          </p:spPr>
          <p:txBody>
            <a:bodyPr anchor="ctr" rtlCol="false" tIns="50800" lIns="50800" bIns="50800" rIns="50800"/>
            <a:lstStyle/>
            <a:p>
              <a:pPr algn="ctr">
                <a:lnSpc>
                  <a:spcPts val="1976"/>
                </a:lnSpc>
              </a:pPr>
            </a:p>
          </p:txBody>
        </p:sp>
      </p:grpSp>
      <p:sp>
        <p:nvSpPr>
          <p:cNvPr name="TextBox 10" id="10"/>
          <p:cNvSpPr txBox="true"/>
          <p:nvPr/>
        </p:nvSpPr>
        <p:spPr>
          <a:xfrm rot="0">
            <a:off x="228536" y="1196660"/>
            <a:ext cx="872971" cy="516359"/>
          </a:xfrm>
          <a:prstGeom prst="rect">
            <a:avLst/>
          </a:prstGeom>
        </p:spPr>
        <p:txBody>
          <a:bodyPr anchor="t" rtlCol="false" tIns="0" lIns="0" bIns="0" rIns="0">
            <a:spAutoFit/>
          </a:bodyPr>
          <a:lstStyle/>
          <a:p>
            <a:pPr algn="l">
              <a:lnSpc>
                <a:spcPts val="1300"/>
              </a:lnSpc>
            </a:pPr>
            <a:r>
              <a:rPr lang="en-US" sz="1566" spc="-97" b="true">
                <a:solidFill>
                  <a:srgbClr val="3A9DE9"/>
                </a:solidFill>
                <a:latin typeface="Montserrat Bold"/>
                <a:ea typeface="Montserrat Bold"/>
                <a:cs typeface="Montserrat Bold"/>
                <a:sym typeface="Montserrat Bold"/>
              </a:rPr>
              <a:t>G</a:t>
            </a:r>
            <a:r>
              <a:rPr lang="en-US" sz="1566" spc="-97" b="true">
                <a:solidFill>
                  <a:srgbClr val="D5DDDC"/>
                </a:solidFill>
                <a:latin typeface="Montserrat Bold"/>
                <a:ea typeface="Montserrat Bold"/>
                <a:cs typeface="Montserrat Bold"/>
                <a:sym typeface="Montserrat Bold"/>
              </a:rPr>
              <a:t>lobal </a:t>
            </a:r>
            <a:r>
              <a:rPr lang="en-US" sz="1566" spc="-97" b="true">
                <a:solidFill>
                  <a:srgbClr val="3A9DE9"/>
                </a:solidFill>
                <a:latin typeface="Montserrat Bold"/>
                <a:ea typeface="Montserrat Bold"/>
                <a:cs typeface="Montserrat Bold"/>
                <a:sym typeface="Montserrat Bold"/>
              </a:rPr>
              <a:t>S</a:t>
            </a:r>
            <a:r>
              <a:rPr lang="en-US" sz="1566" spc="-97" b="true">
                <a:solidFill>
                  <a:srgbClr val="D5DDDC"/>
                </a:solidFill>
                <a:latin typeface="Montserrat Bold"/>
                <a:ea typeface="Montserrat Bold"/>
                <a:cs typeface="Montserrat Bold"/>
                <a:sym typeface="Montserrat Bold"/>
              </a:rPr>
              <a:t>ecurity </a:t>
            </a:r>
            <a:r>
              <a:rPr lang="en-US" sz="1566" spc="-97" b="true">
                <a:solidFill>
                  <a:srgbClr val="3A9DE9"/>
                </a:solidFill>
                <a:latin typeface="Montserrat Bold"/>
                <a:ea typeface="Montserrat Bold"/>
                <a:cs typeface="Montserrat Bold"/>
                <a:sym typeface="Montserrat Bold"/>
              </a:rPr>
              <a:t>S</a:t>
            </a:r>
            <a:r>
              <a:rPr lang="en-US" sz="1566" spc="-97" b="true">
                <a:solidFill>
                  <a:srgbClr val="D5DDDC"/>
                </a:solidFill>
                <a:latin typeface="Montserrat Bold"/>
                <a:ea typeface="Montserrat Bold"/>
                <a:cs typeface="Montserrat Bold"/>
                <a:sym typeface="Montserrat Bold"/>
              </a:rPr>
              <a:t>olutions</a:t>
            </a:r>
          </a:p>
        </p:txBody>
      </p:sp>
      <p:sp>
        <p:nvSpPr>
          <p:cNvPr name="Freeform 11" id="11"/>
          <p:cNvSpPr/>
          <p:nvPr/>
        </p:nvSpPr>
        <p:spPr>
          <a:xfrm flipH="false" flipV="false" rot="0">
            <a:off x="228536" y="0"/>
            <a:ext cx="2059299" cy="1474690"/>
          </a:xfrm>
          <a:custGeom>
            <a:avLst/>
            <a:gdLst/>
            <a:ahLst/>
            <a:cxnLst/>
            <a:rect r="r" b="b" t="t" l="l"/>
            <a:pathLst>
              <a:path h="1474690" w="2059299">
                <a:moveTo>
                  <a:pt x="0" y="0"/>
                </a:moveTo>
                <a:lnTo>
                  <a:pt x="2059299" y="0"/>
                </a:lnTo>
                <a:lnTo>
                  <a:pt x="2059299" y="1474690"/>
                </a:lnTo>
                <a:lnTo>
                  <a:pt x="0" y="1474690"/>
                </a:lnTo>
                <a:lnTo>
                  <a:pt x="0" y="0"/>
                </a:lnTo>
                <a:close/>
              </a:path>
            </a:pathLst>
          </a:custGeom>
          <a:blipFill>
            <a:blip r:embed="rId3"/>
            <a:stretch>
              <a:fillRect l="-581" t="-2257" r="-94" b="-743"/>
            </a:stretch>
          </a:blipFill>
        </p:spPr>
      </p:sp>
      <p:sp>
        <p:nvSpPr>
          <p:cNvPr name="TextBox 12" id="12"/>
          <p:cNvSpPr txBox="true"/>
          <p:nvPr/>
        </p:nvSpPr>
        <p:spPr>
          <a:xfrm rot="0">
            <a:off x="233327" y="2149704"/>
            <a:ext cx="7093345" cy="8127318"/>
          </a:xfrm>
          <a:prstGeom prst="rect">
            <a:avLst/>
          </a:prstGeom>
        </p:spPr>
        <p:txBody>
          <a:bodyPr anchor="t" rtlCol="false" tIns="0" lIns="0" bIns="0" rIns="0">
            <a:spAutoFit/>
          </a:bodyPr>
          <a:lstStyle/>
          <a:p>
            <a:pPr algn="l">
              <a:lnSpc>
                <a:spcPts val="1099"/>
              </a:lnSpc>
            </a:pPr>
            <a:r>
              <a:rPr lang="en-US" sz="1099">
                <a:solidFill>
                  <a:srgbClr val="000000"/>
                </a:solidFill>
                <a:latin typeface="Montserrat"/>
                <a:ea typeface="Montserrat"/>
                <a:cs typeface="Montserrat"/>
                <a:sym typeface="Montserrat"/>
              </a:rPr>
              <a:t>Th</a:t>
            </a:r>
            <a:r>
              <a:rPr lang="en-US" sz="1099">
                <a:solidFill>
                  <a:srgbClr val="000000"/>
                </a:solidFill>
                <a:latin typeface="Montserrat"/>
                <a:ea typeface="Montserrat"/>
                <a:cs typeface="Montserrat"/>
                <a:sym typeface="Montserrat"/>
              </a:rPr>
              <a:t>e</a:t>
            </a:r>
            <a:r>
              <a:rPr lang="en-US" sz="1099">
                <a:solidFill>
                  <a:srgbClr val="000000"/>
                </a:solidFill>
                <a:latin typeface="Montserrat"/>
                <a:ea typeface="Montserrat"/>
                <a:cs typeface="Montserrat"/>
                <a:sym typeface="Montserrat"/>
              </a:rPr>
              <a:t>se</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T</a:t>
            </a:r>
            <a:r>
              <a:rPr lang="en-US" sz="1099">
                <a:solidFill>
                  <a:srgbClr val="000000"/>
                </a:solidFill>
                <a:latin typeface="Montserrat"/>
                <a:ea typeface="Montserrat"/>
                <a:cs typeface="Montserrat"/>
                <a:sym typeface="Montserrat"/>
              </a:rPr>
              <a:t>e</a:t>
            </a:r>
            <a:r>
              <a:rPr lang="en-US" sz="1099">
                <a:solidFill>
                  <a:srgbClr val="000000"/>
                </a:solidFill>
                <a:latin typeface="Montserrat"/>
                <a:ea typeface="Montserrat"/>
                <a:cs typeface="Montserrat"/>
                <a:sym typeface="Montserrat"/>
              </a:rPr>
              <a:t>r</a:t>
            </a:r>
            <a:r>
              <a:rPr lang="en-US" sz="1099">
                <a:solidFill>
                  <a:srgbClr val="000000"/>
                </a:solidFill>
                <a:latin typeface="Montserrat"/>
                <a:ea typeface="Montserrat"/>
                <a:cs typeface="Montserrat"/>
                <a:sym typeface="Montserrat"/>
              </a:rPr>
              <a:t>m</a:t>
            </a:r>
            <a:r>
              <a:rPr lang="en-US" sz="1099">
                <a:solidFill>
                  <a:srgbClr val="000000"/>
                </a:solidFill>
                <a:latin typeface="Montserrat"/>
                <a:ea typeface="Montserrat"/>
                <a:cs typeface="Montserrat"/>
                <a:sym typeface="Montserrat"/>
              </a:rPr>
              <a:t>s</a:t>
            </a:r>
            <a:r>
              <a:rPr lang="en-US" sz="1099">
                <a:solidFill>
                  <a:srgbClr val="000000"/>
                </a:solidFill>
                <a:latin typeface="Montserrat"/>
                <a:ea typeface="Montserrat"/>
                <a:cs typeface="Montserrat"/>
                <a:sym typeface="Montserrat"/>
              </a:rPr>
              <a:t> and Conditions ("Agreement") gov</a:t>
            </a:r>
            <a:r>
              <a:rPr lang="en-US" sz="1099">
                <a:solidFill>
                  <a:srgbClr val="000000"/>
                </a:solidFill>
                <a:latin typeface="Montserrat"/>
                <a:ea typeface="Montserrat"/>
                <a:cs typeface="Montserrat"/>
                <a:sym typeface="Montserrat"/>
              </a:rPr>
              <a:t>ern the provision and installation of security systems and related services ("Services") </a:t>
            </a:r>
            <a:r>
              <a:rPr lang="en-US" sz="1099">
                <a:solidFill>
                  <a:srgbClr val="000000"/>
                </a:solidFill>
                <a:latin typeface="Montserrat"/>
                <a:ea typeface="Montserrat"/>
                <a:cs typeface="Montserrat"/>
                <a:sym typeface="Montserrat"/>
              </a:rPr>
              <a:t>b</a:t>
            </a:r>
            <a:r>
              <a:rPr lang="en-US" sz="1099">
                <a:solidFill>
                  <a:srgbClr val="000000"/>
                </a:solidFill>
                <a:latin typeface="Montserrat"/>
                <a:ea typeface="Montserrat"/>
                <a:cs typeface="Montserrat"/>
                <a:sym typeface="Montserrat"/>
              </a:rPr>
              <a:t>y </a:t>
            </a:r>
            <a:r>
              <a:rPr lang="en-US" b="true" sz="1099">
                <a:solidFill>
                  <a:srgbClr val="000000"/>
                </a:solidFill>
                <a:latin typeface="Montserrat Bold"/>
                <a:ea typeface="Montserrat Bold"/>
                <a:cs typeface="Montserrat Bold"/>
                <a:sym typeface="Montserrat Bold"/>
              </a:rPr>
              <a:t>Globa</a:t>
            </a:r>
            <a:r>
              <a:rPr lang="en-US" b="true" sz="1099">
                <a:solidFill>
                  <a:srgbClr val="000000"/>
                </a:solidFill>
                <a:latin typeface="Montserrat Bold"/>
                <a:ea typeface="Montserrat Bold"/>
                <a:cs typeface="Montserrat Bold"/>
                <a:sym typeface="Montserrat Bold"/>
              </a:rPr>
              <a:t>l Security Solutions</a:t>
            </a:r>
            <a:r>
              <a:rPr lang="en-US" sz="1099">
                <a:solidFill>
                  <a:srgbClr val="000000"/>
                </a:solidFill>
                <a:latin typeface="Montserrat"/>
                <a:ea typeface="Montserrat"/>
                <a:cs typeface="Montserrat"/>
                <a:sym typeface="Montserrat"/>
              </a:rPr>
              <a:t> ("we," "us," "our") to the customer ("you," "your"). This Agreement, together with the official Quotation provided, constitutes the entire contract between both parties.</a:t>
            </a:r>
          </a:p>
          <a:p>
            <a:pPr algn="l">
              <a:lnSpc>
                <a:spcPts val="1099"/>
              </a:lnSpc>
            </a:pPr>
          </a:p>
          <a:p>
            <a:pPr algn="l">
              <a:lnSpc>
                <a:spcPts val="1299"/>
              </a:lnSpc>
            </a:pPr>
            <a:r>
              <a:rPr lang="en-US" b="true" sz="1299" u="sng">
                <a:solidFill>
                  <a:srgbClr val="000000"/>
                </a:solidFill>
                <a:latin typeface="Montserrat Bold"/>
                <a:ea typeface="Montserrat Bold"/>
                <a:cs typeface="Montserrat Bold"/>
                <a:sym typeface="Montserrat Bold"/>
              </a:rPr>
              <a:t>1. Scope of Services</a:t>
            </a:r>
          </a:p>
          <a:p>
            <a:pPr algn="l">
              <a:lnSpc>
                <a:spcPts val="1099"/>
              </a:lnSpc>
            </a:pPr>
          </a:p>
          <a:p>
            <a:pPr algn="l">
              <a:lnSpc>
                <a:spcPts val="1099"/>
              </a:lnSpc>
            </a:pPr>
            <a:r>
              <a:rPr lang="en-US" sz="1099">
                <a:solidFill>
                  <a:srgbClr val="000000"/>
                </a:solidFill>
                <a:latin typeface="Montserrat"/>
                <a:ea typeface="Montserrat"/>
                <a:cs typeface="Montserrat"/>
                <a:sym typeface="Montserrat"/>
              </a:rPr>
              <a:t>We agree to supply and install the security equipment ("System") as specified</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i</a:t>
            </a:r>
            <a:r>
              <a:rPr lang="en-US" sz="1099">
                <a:solidFill>
                  <a:srgbClr val="000000"/>
                </a:solidFill>
                <a:latin typeface="Montserrat"/>
                <a:ea typeface="Montserrat"/>
                <a:cs typeface="Montserrat"/>
                <a:sym typeface="Montserrat"/>
              </a:rPr>
              <a:t>n</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t</a:t>
            </a:r>
            <a:r>
              <a:rPr lang="en-US" sz="1099">
                <a:solidFill>
                  <a:srgbClr val="000000"/>
                </a:solidFill>
                <a:latin typeface="Montserrat"/>
                <a:ea typeface="Montserrat"/>
                <a:cs typeface="Montserrat"/>
                <a:sym typeface="Montserrat"/>
              </a:rPr>
              <a:t>h</a:t>
            </a:r>
            <a:r>
              <a:rPr lang="en-US" sz="1099">
                <a:solidFill>
                  <a:srgbClr val="000000"/>
                </a:solidFill>
                <a:latin typeface="Montserrat"/>
                <a:ea typeface="Montserrat"/>
                <a:cs typeface="Montserrat"/>
                <a:sym typeface="Montserrat"/>
              </a:rPr>
              <a:t>e</a:t>
            </a:r>
            <a:r>
              <a:rPr lang="en-US" sz="1099">
                <a:solidFill>
                  <a:srgbClr val="000000"/>
                </a:solidFill>
                <a:latin typeface="Montserrat"/>
                <a:ea typeface="Montserrat"/>
                <a:cs typeface="Montserrat"/>
                <a:sym typeface="Montserrat"/>
              </a:rPr>
              <a:t> signed Quotation at the address provided ("Site"). The scope includes the physical installation of components, system configuration, basic user training upon handover, and any other services explicitly detailed in the Quotation. Services may include, but are not limited to:</a:t>
            </a:r>
          </a:p>
          <a:p>
            <a:pPr algn="l">
              <a:lnSpc>
                <a:spcPts val="1099"/>
              </a:lnSpc>
            </a:pP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Intruder Detection and Alarm Systems</a:t>
            </a: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CCTV Surveillance Systems</a:t>
            </a: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Access Control and Intercom Systems</a:t>
            </a: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Electric Fencing and Perimeter Security</a:t>
            </a: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Gate and Garage Automation</a:t>
            </a: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Smart Home and System Integration</a:t>
            </a:r>
          </a:p>
          <a:p>
            <a:pPr algn="l">
              <a:lnSpc>
                <a:spcPts val="1099"/>
              </a:lnSpc>
            </a:pPr>
          </a:p>
          <a:p>
            <a:pPr algn="l">
              <a:lnSpc>
                <a:spcPts val="1299"/>
              </a:lnSpc>
            </a:pPr>
            <a:r>
              <a:rPr lang="en-US" b="true" sz="1299" u="sng">
                <a:solidFill>
                  <a:srgbClr val="000000"/>
                </a:solidFill>
                <a:latin typeface="Montserrat Bold"/>
                <a:ea typeface="Montserrat Bold"/>
                <a:cs typeface="Montserrat Bold"/>
                <a:sym typeface="Montserrat Bold"/>
              </a:rPr>
              <a:t>2. System Specifications</a:t>
            </a:r>
          </a:p>
          <a:p>
            <a:pPr algn="l">
              <a:lnSpc>
                <a:spcPts val="1099"/>
              </a:lnSpc>
            </a:pPr>
          </a:p>
          <a:p>
            <a:pPr algn="l">
              <a:lnSpc>
                <a:spcPts val="1099"/>
              </a:lnSpc>
            </a:pPr>
            <a:r>
              <a:rPr lang="en-US" sz="1099">
                <a:solidFill>
                  <a:srgbClr val="000000"/>
                </a:solidFill>
                <a:latin typeface="Montserrat"/>
                <a:ea typeface="Montserrat"/>
                <a:cs typeface="Montserrat"/>
                <a:sym typeface="Montserrat"/>
              </a:rPr>
              <a:t>The make, model, quantity, and specific capabilities of all System components will be detailed in the formal Quotation. We reserve the right to propose a substitution of components with items of equal or superior quality and specification if the quoted items become unavailable. Such a substitution will only be made subject to your prior written approval.</a:t>
            </a:r>
          </a:p>
          <a:p>
            <a:pPr algn="l">
              <a:lnSpc>
                <a:spcPts val="1099"/>
              </a:lnSpc>
            </a:pPr>
          </a:p>
          <a:p>
            <a:pPr algn="l">
              <a:lnSpc>
                <a:spcPts val="1299"/>
              </a:lnSpc>
            </a:pPr>
            <a:r>
              <a:rPr lang="en-US" b="true" sz="1299" u="sng">
                <a:solidFill>
                  <a:srgbClr val="000000"/>
                </a:solidFill>
                <a:latin typeface="Montserrat Bold"/>
                <a:ea typeface="Montserrat Bold"/>
                <a:cs typeface="Montserrat Bold"/>
                <a:sym typeface="Montserrat Bold"/>
              </a:rPr>
              <a:t>3. Installation Procedures</a:t>
            </a:r>
          </a:p>
          <a:p>
            <a:pPr algn="l">
              <a:lnSpc>
                <a:spcPts val="1099"/>
              </a:lnSpc>
            </a:pPr>
          </a:p>
          <a:p>
            <a:pPr algn="l">
              <a:lnSpc>
                <a:spcPts val="1099"/>
              </a:lnSpc>
            </a:pPr>
            <a:r>
              <a:rPr lang="en-US" b="true" sz="1099">
                <a:solidFill>
                  <a:srgbClr val="000000"/>
                </a:solidFill>
                <a:latin typeface="Montserrat Bold"/>
                <a:ea typeface="Montserrat Bold"/>
                <a:cs typeface="Montserrat Bold"/>
                <a:sym typeface="Montserrat Bold"/>
              </a:rPr>
              <a:t>3.1</a:t>
            </a:r>
            <a:r>
              <a:rPr lang="en-US" b="true" sz="1099">
                <a:solidFill>
                  <a:srgbClr val="000000"/>
                </a:solidFill>
                <a:latin typeface="Montserrat Bold"/>
                <a:ea typeface="Montserrat Bold"/>
                <a:cs typeface="Montserrat Bold"/>
                <a:sym typeface="Montserrat Bold"/>
              </a:rPr>
              <a:t>. Site Access:</a:t>
            </a:r>
            <a:r>
              <a:rPr lang="en-US" sz="1099">
                <a:solidFill>
                  <a:srgbClr val="000000"/>
                </a:solidFill>
                <a:latin typeface="Montserrat"/>
                <a:ea typeface="Montserrat"/>
                <a:cs typeface="Montserrat"/>
                <a:sym typeface="Montserrat"/>
              </a:rPr>
              <a:t> You sh</a:t>
            </a:r>
            <a:r>
              <a:rPr lang="en-US" sz="1099">
                <a:solidFill>
                  <a:srgbClr val="000000"/>
                </a:solidFill>
                <a:latin typeface="Montserrat"/>
                <a:ea typeface="Montserrat"/>
                <a:cs typeface="Montserrat"/>
                <a:sym typeface="Montserrat"/>
              </a:rPr>
              <a:t>a</a:t>
            </a:r>
            <a:r>
              <a:rPr lang="en-US" sz="1099">
                <a:solidFill>
                  <a:srgbClr val="000000"/>
                </a:solidFill>
                <a:latin typeface="Montserrat"/>
                <a:ea typeface="Montserrat"/>
                <a:cs typeface="Montserrat"/>
                <a:sym typeface="Montserrat"/>
              </a:rPr>
              <a:t>l</a:t>
            </a:r>
            <a:r>
              <a:rPr lang="en-US" sz="1099">
                <a:solidFill>
                  <a:srgbClr val="000000"/>
                </a:solidFill>
                <a:latin typeface="Montserrat"/>
                <a:ea typeface="Montserrat"/>
                <a:cs typeface="Montserrat"/>
                <a:sym typeface="Montserrat"/>
              </a:rPr>
              <a:t>l </a:t>
            </a:r>
            <a:r>
              <a:rPr lang="en-US" sz="1099">
                <a:solidFill>
                  <a:srgbClr val="000000"/>
                </a:solidFill>
                <a:latin typeface="Montserrat"/>
                <a:ea typeface="Montserrat"/>
                <a:cs typeface="Montserrat"/>
                <a:sym typeface="Montserrat"/>
              </a:rPr>
              <a:t>pr</a:t>
            </a:r>
            <a:r>
              <a:rPr lang="en-US" sz="1099">
                <a:solidFill>
                  <a:srgbClr val="000000"/>
                </a:solidFill>
                <a:latin typeface="Montserrat"/>
                <a:ea typeface="Montserrat"/>
                <a:cs typeface="Montserrat"/>
                <a:sym typeface="Montserrat"/>
              </a:rPr>
              <a:t>o</a:t>
            </a:r>
            <a:r>
              <a:rPr lang="en-US" sz="1099">
                <a:solidFill>
                  <a:srgbClr val="000000"/>
                </a:solidFill>
                <a:latin typeface="Montserrat"/>
                <a:ea typeface="Montserrat"/>
                <a:cs typeface="Montserrat"/>
                <a:sym typeface="Montserrat"/>
              </a:rPr>
              <a:t>vide us </a:t>
            </a:r>
            <a:r>
              <a:rPr lang="en-US" sz="1099">
                <a:solidFill>
                  <a:srgbClr val="000000"/>
                </a:solidFill>
                <a:latin typeface="Montserrat"/>
                <a:ea typeface="Montserrat"/>
                <a:cs typeface="Montserrat"/>
                <a:sym typeface="Montserrat"/>
              </a:rPr>
              <a:t>w</a:t>
            </a:r>
            <a:r>
              <a:rPr lang="en-US" sz="1099">
                <a:solidFill>
                  <a:srgbClr val="000000"/>
                </a:solidFill>
                <a:latin typeface="Montserrat"/>
                <a:ea typeface="Montserrat"/>
                <a:cs typeface="Montserrat"/>
                <a:sym typeface="Montserrat"/>
              </a:rPr>
              <a:t>ith saf</a:t>
            </a:r>
            <a:r>
              <a:rPr lang="en-US" sz="1099">
                <a:solidFill>
                  <a:srgbClr val="000000"/>
                </a:solidFill>
                <a:latin typeface="Montserrat"/>
                <a:ea typeface="Montserrat"/>
                <a:cs typeface="Montserrat"/>
                <a:sym typeface="Montserrat"/>
              </a:rPr>
              <a:t>e</a:t>
            </a:r>
            <a:r>
              <a:rPr lang="en-US" sz="1099">
                <a:solidFill>
                  <a:srgbClr val="000000"/>
                </a:solidFill>
                <a:latin typeface="Montserrat"/>
                <a:ea typeface="Montserrat"/>
                <a:cs typeface="Montserrat"/>
                <a:sym typeface="Montserrat"/>
              </a:rPr>
              <a:t>,</a:t>
            </a:r>
            <a:r>
              <a:rPr lang="en-US" sz="1099">
                <a:solidFill>
                  <a:srgbClr val="000000"/>
                </a:solidFill>
                <a:latin typeface="Montserrat"/>
                <a:ea typeface="Montserrat"/>
                <a:cs typeface="Montserrat"/>
                <a:sym typeface="Montserrat"/>
              </a:rPr>
              <a:t> u</a:t>
            </a:r>
            <a:r>
              <a:rPr lang="en-US" sz="1099">
                <a:solidFill>
                  <a:srgbClr val="000000"/>
                </a:solidFill>
                <a:latin typeface="Montserrat"/>
                <a:ea typeface="Montserrat"/>
                <a:cs typeface="Montserrat"/>
                <a:sym typeface="Montserrat"/>
              </a:rPr>
              <a:t>nimpeded access to the Site during agreed-upon working hours to perform the installation.</a:t>
            </a:r>
          </a:p>
          <a:p>
            <a:pPr algn="l">
              <a:lnSpc>
                <a:spcPts val="1099"/>
              </a:lnSpc>
            </a:pPr>
          </a:p>
          <a:p>
            <a:pPr algn="l">
              <a:lnSpc>
                <a:spcPts val="1099"/>
              </a:lnSpc>
            </a:pPr>
            <a:r>
              <a:rPr lang="en-US" b="true" sz="1099">
                <a:solidFill>
                  <a:srgbClr val="000000"/>
                </a:solidFill>
                <a:latin typeface="Montserrat Bold"/>
                <a:ea typeface="Montserrat Bold"/>
                <a:cs typeface="Montserrat Bold"/>
                <a:sym typeface="Montserrat Bold"/>
              </a:rPr>
              <a:t>3.2</a:t>
            </a:r>
            <a:r>
              <a:rPr lang="en-US" b="true" sz="1099">
                <a:solidFill>
                  <a:srgbClr val="000000"/>
                </a:solidFill>
                <a:latin typeface="Montserrat Bold"/>
                <a:ea typeface="Montserrat Bold"/>
                <a:cs typeface="Montserrat Bold"/>
                <a:sym typeface="Montserrat Bold"/>
              </a:rPr>
              <a:t>. Customer Obligations:</a:t>
            </a:r>
            <a:r>
              <a:rPr lang="en-US" sz="1099">
                <a:solidFill>
                  <a:srgbClr val="000000"/>
                </a:solidFill>
                <a:latin typeface="Montserrat"/>
                <a:ea typeface="Montserrat"/>
                <a:cs typeface="Montserrat"/>
                <a:sym typeface="Montserrat"/>
              </a:rPr>
              <a:t> You are responsible for ensuring the Site is ready for installation, including providing a stable 230V AC power supply at designated points.</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You m</a:t>
            </a:r>
            <a:r>
              <a:rPr lang="en-US" sz="1099">
                <a:solidFill>
                  <a:srgbClr val="000000"/>
                </a:solidFill>
                <a:latin typeface="Montserrat"/>
                <a:ea typeface="Montserrat"/>
                <a:cs typeface="Montserrat"/>
                <a:sym typeface="Montserrat"/>
              </a:rPr>
              <a:t>u</a:t>
            </a:r>
            <a:r>
              <a:rPr lang="en-US" sz="1099">
                <a:solidFill>
                  <a:srgbClr val="000000"/>
                </a:solidFill>
                <a:latin typeface="Montserrat"/>
                <a:ea typeface="Montserrat"/>
                <a:cs typeface="Montserrat"/>
                <a:sym typeface="Montserrat"/>
              </a:rPr>
              <a:t>s</a:t>
            </a:r>
            <a:r>
              <a:rPr lang="en-US" sz="1099">
                <a:solidFill>
                  <a:srgbClr val="000000"/>
                </a:solidFill>
                <a:latin typeface="Montserrat"/>
                <a:ea typeface="Montserrat"/>
                <a:cs typeface="Montserrat"/>
                <a:sym typeface="Montserrat"/>
              </a:rPr>
              <a:t>t</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i</a:t>
            </a:r>
            <a:r>
              <a:rPr lang="en-US" sz="1099">
                <a:solidFill>
                  <a:srgbClr val="000000"/>
                </a:solidFill>
                <a:latin typeface="Montserrat"/>
                <a:ea typeface="Montserrat"/>
                <a:cs typeface="Montserrat"/>
                <a:sym typeface="Montserrat"/>
              </a:rPr>
              <a:t>nf</a:t>
            </a:r>
            <a:r>
              <a:rPr lang="en-US" sz="1099">
                <a:solidFill>
                  <a:srgbClr val="000000"/>
                </a:solidFill>
                <a:latin typeface="Montserrat"/>
                <a:ea typeface="Montserrat"/>
                <a:cs typeface="Montserrat"/>
                <a:sym typeface="Montserrat"/>
              </a:rPr>
              <a:t>o</a:t>
            </a:r>
            <a:r>
              <a:rPr lang="en-US" sz="1099">
                <a:solidFill>
                  <a:srgbClr val="000000"/>
                </a:solidFill>
                <a:latin typeface="Montserrat"/>
                <a:ea typeface="Montserrat"/>
                <a:cs typeface="Montserrat"/>
                <a:sym typeface="Montserrat"/>
              </a:rPr>
              <a:t>rm us of a</a:t>
            </a:r>
            <a:r>
              <a:rPr lang="en-US" sz="1099">
                <a:solidFill>
                  <a:srgbClr val="000000"/>
                </a:solidFill>
                <a:latin typeface="Montserrat"/>
                <a:ea typeface="Montserrat"/>
                <a:cs typeface="Montserrat"/>
                <a:sym typeface="Montserrat"/>
              </a:rPr>
              <a:t>n</a:t>
            </a:r>
            <a:r>
              <a:rPr lang="en-US" sz="1099">
                <a:solidFill>
                  <a:srgbClr val="000000"/>
                </a:solidFill>
                <a:latin typeface="Montserrat"/>
                <a:ea typeface="Montserrat"/>
                <a:cs typeface="Montserrat"/>
                <a:sym typeface="Montserrat"/>
              </a:rPr>
              <a:t>y</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conce</a:t>
            </a:r>
            <a:r>
              <a:rPr lang="en-US" sz="1099">
                <a:solidFill>
                  <a:srgbClr val="000000"/>
                </a:solidFill>
                <a:latin typeface="Montserrat"/>
                <a:ea typeface="Montserrat"/>
                <a:cs typeface="Montserrat"/>
                <a:sym typeface="Montserrat"/>
              </a:rPr>
              <a:t>al</a:t>
            </a:r>
            <a:r>
              <a:rPr lang="en-US" sz="1099">
                <a:solidFill>
                  <a:srgbClr val="000000"/>
                </a:solidFill>
                <a:latin typeface="Montserrat"/>
                <a:ea typeface="Montserrat"/>
                <a:cs typeface="Montserrat"/>
                <a:sym typeface="Montserrat"/>
              </a:rPr>
              <a:t>e</a:t>
            </a:r>
            <a:r>
              <a:rPr lang="en-US" sz="1099">
                <a:solidFill>
                  <a:srgbClr val="000000"/>
                </a:solidFill>
                <a:latin typeface="Montserrat"/>
                <a:ea typeface="Montserrat"/>
                <a:cs typeface="Montserrat"/>
                <a:sym typeface="Montserrat"/>
              </a:rPr>
              <a:t>d</a:t>
            </a:r>
            <a:r>
              <a:rPr lang="en-US" sz="1099">
                <a:solidFill>
                  <a:srgbClr val="000000"/>
                </a:solidFill>
                <a:latin typeface="Montserrat"/>
                <a:ea typeface="Montserrat"/>
                <a:cs typeface="Montserrat"/>
                <a:sym typeface="Montserrat"/>
              </a:rPr>
              <a:t> util</a:t>
            </a:r>
            <a:r>
              <a:rPr lang="en-US" sz="1099">
                <a:solidFill>
                  <a:srgbClr val="000000"/>
                </a:solidFill>
                <a:latin typeface="Montserrat"/>
                <a:ea typeface="Montserrat"/>
                <a:cs typeface="Montserrat"/>
                <a:sym typeface="Montserrat"/>
              </a:rPr>
              <a:t>it</a:t>
            </a:r>
            <a:r>
              <a:rPr lang="en-US" sz="1099">
                <a:solidFill>
                  <a:srgbClr val="000000"/>
                </a:solidFill>
                <a:latin typeface="Montserrat"/>
                <a:ea typeface="Montserrat"/>
                <a:cs typeface="Montserrat"/>
                <a:sym typeface="Montserrat"/>
              </a:rPr>
              <a:t>ies (e.g., water pipes, electrical wiring) or structural peculiarities. We are not liable for damages to unmarked or undisclosed utilities.</a:t>
            </a:r>
          </a:p>
          <a:p>
            <a:pPr algn="l">
              <a:lnSpc>
                <a:spcPts val="1099"/>
              </a:lnSpc>
            </a:pPr>
          </a:p>
          <a:p>
            <a:pPr algn="l">
              <a:lnSpc>
                <a:spcPts val="1099"/>
              </a:lnSpc>
            </a:pPr>
            <a:r>
              <a:rPr lang="en-US" b="true" sz="1099">
                <a:solidFill>
                  <a:srgbClr val="000000"/>
                </a:solidFill>
                <a:latin typeface="Montserrat Bold"/>
                <a:ea typeface="Montserrat Bold"/>
                <a:cs typeface="Montserrat Bold"/>
                <a:sym typeface="Montserrat Bold"/>
              </a:rPr>
              <a:t>3.3</a:t>
            </a:r>
            <a:r>
              <a:rPr lang="en-US" b="true" sz="1099">
                <a:solidFill>
                  <a:srgbClr val="000000"/>
                </a:solidFill>
                <a:latin typeface="Montserrat Bold"/>
                <a:ea typeface="Montserrat Bold"/>
                <a:cs typeface="Montserrat Bold"/>
                <a:sym typeface="Montserrat Bold"/>
              </a:rPr>
              <a:t>. Timeline:</a:t>
            </a:r>
            <a:r>
              <a:rPr lang="en-US" sz="1099">
                <a:solidFill>
                  <a:srgbClr val="000000"/>
                </a:solidFill>
                <a:latin typeface="Montserrat"/>
                <a:ea typeface="Montserrat"/>
                <a:cs typeface="Montserrat"/>
                <a:sym typeface="Montserrat"/>
              </a:rPr>
              <a:t> The installation timeline provided is an estimate</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W</a:t>
            </a:r>
            <a:r>
              <a:rPr lang="en-US" sz="1099">
                <a:solidFill>
                  <a:srgbClr val="000000"/>
                </a:solidFill>
                <a:latin typeface="Montserrat"/>
                <a:ea typeface="Montserrat"/>
                <a:cs typeface="Montserrat"/>
                <a:sym typeface="Montserrat"/>
              </a:rPr>
              <a:t>e </a:t>
            </a:r>
            <a:r>
              <a:rPr lang="en-US" sz="1099">
                <a:solidFill>
                  <a:srgbClr val="000000"/>
                </a:solidFill>
                <a:latin typeface="Montserrat"/>
                <a:ea typeface="Montserrat"/>
                <a:cs typeface="Montserrat"/>
                <a:sym typeface="Montserrat"/>
              </a:rPr>
              <a:t>w</a:t>
            </a:r>
            <a:r>
              <a:rPr lang="en-US" sz="1099">
                <a:solidFill>
                  <a:srgbClr val="000000"/>
                </a:solidFill>
                <a:latin typeface="Montserrat"/>
                <a:ea typeface="Montserrat"/>
                <a:cs typeface="Montserrat"/>
                <a:sym typeface="Montserrat"/>
              </a:rPr>
              <a:t>i</a:t>
            </a:r>
            <a:r>
              <a:rPr lang="en-US" sz="1099">
                <a:solidFill>
                  <a:srgbClr val="000000"/>
                </a:solidFill>
                <a:latin typeface="Montserrat"/>
                <a:ea typeface="Montserrat"/>
                <a:cs typeface="Montserrat"/>
                <a:sym typeface="Montserrat"/>
              </a:rPr>
              <a:t>ll make every reasonable effort to meet these dates but are not liable for d</a:t>
            </a:r>
            <a:r>
              <a:rPr lang="en-US" sz="1099">
                <a:solidFill>
                  <a:srgbClr val="000000"/>
                </a:solidFill>
                <a:latin typeface="Montserrat"/>
                <a:ea typeface="Montserrat"/>
                <a:cs typeface="Montserrat"/>
                <a:sym typeface="Montserrat"/>
              </a:rPr>
              <a:t>e</a:t>
            </a:r>
            <a:r>
              <a:rPr lang="en-US" sz="1099">
                <a:solidFill>
                  <a:srgbClr val="000000"/>
                </a:solidFill>
                <a:latin typeface="Montserrat"/>
                <a:ea typeface="Montserrat"/>
                <a:cs typeface="Montserrat"/>
                <a:sym typeface="Montserrat"/>
              </a:rPr>
              <a:t>lays</a:t>
            </a:r>
            <a:r>
              <a:rPr lang="en-US" sz="1099">
                <a:solidFill>
                  <a:srgbClr val="000000"/>
                </a:solidFill>
                <a:latin typeface="Montserrat"/>
                <a:ea typeface="Montserrat"/>
                <a:cs typeface="Montserrat"/>
                <a:sym typeface="Montserrat"/>
              </a:rPr>
              <a:t> c</a:t>
            </a:r>
            <a:r>
              <a:rPr lang="en-US" sz="1099">
                <a:solidFill>
                  <a:srgbClr val="000000"/>
                </a:solidFill>
                <a:latin typeface="Montserrat"/>
                <a:ea typeface="Montserrat"/>
                <a:cs typeface="Montserrat"/>
                <a:sym typeface="Montserrat"/>
              </a:rPr>
              <a:t>au</a:t>
            </a:r>
            <a:r>
              <a:rPr lang="en-US" sz="1099">
                <a:solidFill>
                  <a:srgbClr val="000000"/>
                </a:solidFill>
                <a:latin typeface="Montserrat"/>
                <a:ea typeface="Montserrat"/>
                <a:cs typeface="Montserrat"/>
                <a:sym typeface="Montserrat"/>
              </a:rPr>
              <a:t>s</a:t>
            </a:r>
            <a:r>
              <a:rPr lang="en-US" sz="1099">
                <a:solidFill>
                  <a:srgbClr val="000000"/>
                </a:solidFill>
                <a:latin typeface="Montserrat"/>
                <a:ea typeface="Montserrat"/>
                <a:cs typeface="Montserrat"/>
                <a:sym typeface="Montserrat"/>
              </a:rPr>
              <a:t>ed by factors beyond our control (e.g., adverse weather, supplier delays, or changes requested by you).</a:t>
            </a:r>
          </a:p>
          <a:p>
            <a:pPr algn="l">
              <a:lnSpc>
                <a:spcPts val="1099"/>
              </a:lnSpc>
            </a:pPr>
          </a:p>
          <a:p>
            <a:pPr algn="l">
              <a:lnSpc>
                <a:spcPts val="1099"/>
              </a:lnSpc>
            </a:pPr>
            <a:r>
              <a:rPr lang="en-US" b="true" sz="1099">
                <a:solidFill>
                  <a:srgbClr val="000000"/>
                </a:solidFill>
                <a:latin typeface="Montserrat Bold"/>
                <a:ea typeface="Montserrat Bold"/>
                <a:cs typeface="Montserrat Bold"/>
                <a:sym typeface="Montserrat Bold"/>
              </a:rPr>
              <a:t>3.4</a:t>
            </a:r>
            <a:r>
              <a:rPr lang="en-US" b="true" sz="1099">
                <a:solidFill>
                  <a:srgbClr val="000000"/>
                </a:solidFill>
                <a:latin typeface="Montserrat Bold"/>
                <a:ea typeface="Montserrat Bold"/>
                <a:cs typeface="Montserrat Bold"/>
                <a:sym typeface="Montserrat Bold"/>
              </a:rPr>
              <a:t>. Completion &amp; Handover</a:t>
            </a:r>
            <a:r>
              <a:rPr lang="en-US" sz="1099">
                <a:solidFill>
                  <a:srgbClr val="000000"/>
                </a:solidFill>
                <a:latin typeface="Montserrat"/>
                <a:ea typeface="Montserrat"/>
                <a:cs typeface="Montserrat"/>
                <a:sym typeface="Montserrat"/>
              </a:rPr>
              <a:t>: Installation is deemed complete upon successful system testing</a:t>
            </a:r>
            <a:r>
              <a:rPr lang="en-US" sz="1099">
                <a:solidFill>
                  <a:srgbClr val="000000"/>
                </a:solidFill>
                <a:latin typeface="Montserrat"/>
                <a:ea typeface="Montserrat"/>
                <a:cs typeface="Montserrat"/>
                <a:sym typeface="Montserrat"/>
              </a:rPr>
              <a:t> and </a:t>
            </a:r>
            <a:r>
              <a:rPr lang="en-US" sz="1099">
                <a:solidFill>
                  <a:srgbClr val="000000"/>
                </a:solidFill>
                <a:latin typeface="Montserrat"/>
                <a:ea typeface="Montserrat"/>
                <a:cs typeface="Montserrat"/>
                <a:sym typeface="Montserrat"/>
              </a:rPr>
              <a:t>de</a:t>
            </a:r>
            <a:r>
              <a:rPr lang="en-US" sz="1099">
                <a:solidFill>
                  <a:srgbClr val="000000"/>
                </a:solidFill>
                <a:latin typeface="Montserrat"/>
                <a:ea typeface="Montserrat"/>
                <a:cs typeface="Montserrat"/>
                <a:sym typeface="Montserrat"/>
              </a:rPr>
              <a:t>m</a:t>
            </a:r>
            <a:r>
              <a:rPr lang="en-US" sz="1099">
                <a:solidFill>
                  <a:srgbClr val="000000"/>
                </a:solidFill>
                <a:latin typeface="Montserrat"/>
                <a:ea typeface="Montserrat"/>
                <a:cs typeface="Montserrat"/>
                <a:sym typeface="Montserrat"/>
              </a:rPr>
              <a:t>on</a:t>
            </a:r>
            <a:r>
              <a:rPr lang="en-US" sz="1099">
                <a:solidFill>
                  <a:srgbClr val="000000"/>
                </a:solidFill>
                <a:latin typeface="Montserrat"/>
                <a:ea typeface="Montserrat"/>
                <a:cs typeface="Montserrat"/>
                <a:sym typeface="Montserrat"/>
              </a:rPr>
              <a:t>s</a:t>
            </a:r>
            <a:r>
              <a:rPr lang="en-US" sz="1099">
                <a:solidFill>
                  <a:srgbClr val="000000"/>
                </a:solidFill>
                <a:latin typeface="Montserrat"/>
                <a:ea typeface="Montserrat"/>
                <a:cs typeface="Montserrat"/>
                <a:sym typeface="Montserrat"/>
              </a:rPr>
              <a:t>trat</a:t>
            </a:r>
            <a:r>
              <a:rPr lang="en-US" sz="1099">
                <a:solidFill>
                  <a:srgbClr val="000000"/>
                </a:solidFill>
                <a:latin typeface="Montserrat"/>
                <a:ea typeface="Montserrat"/>
                <a:cs typeface="Montserrat"/>
                <a:sym typeface="Montserrat"/>
              </a:rPr>
              <a:t>ion</a:t>
            </a:r>
            <a:r>
              <a:rPr lang="en-US" sz="1099">
                <a:solidFill>
                  <a:srgbClr val="000000"/>
                </a:solidFill>
                <a:latin typeface="Montserrat"/>
                <a:ea typeface="Montserrat"/>
                <a:cs typeface="Montserrat"/>
                <a:sym typeface="Montserrat"/>
              </a:rPr>
              <a:t>. Your</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ac</a:t>
            </a:r>
            <a:r>
              <a:rPr lang="en-US" sz="1099">
                <a:solidFill>
                  <a:srgbClr val="000000"/>
                </a:solidFill>
                <a:latin typeface="Montserrat"/>
                <a:ea typeface="Montserrat"/>
                <a:cs typeface="Montserrat"/>
                <a:sym typeface="Montserrat"/>
              </a:rPr>
              <a:t>cept</a:t>
            </a:r>
            <a:r>
              <a:rPr lang="en-US" sz="1099">
                <a:solidFill>
                  <a:srgbClr val="000000"/>
                </a:solidFill>
                <a:latin typeface="Montserrat"/>
                <a:ea typeface="Montserrat"/>
                <a:cs typeface="Montserrat"/>
                <a:sym typeface="Montserrat"/>
              </a:rPr>
              <a:t>anc</a:t>
            </a:r>
            <a:r>
              <a:rPr lang="en-US" sz="1099">
                <a:solidFill>
                  <a:srgbClr val="000000"/>
                </a:solidFill>
                <a:latin typeface="Montserrat"/>
                <a:ea typeface="Montserrat"/>
                <a:cs typeface="Montserrat"/>
                <a:sym typeface="Montserrat"/>
              </a:rPr>
              <a:t>e </a:t>
            </a:r>
            <a:r>
              <a:rPr lang="en-US" sz="1099">
                <a:solidFill>
                  <a:srgbClr val="000000"/>
                </a:solidFill>
                <a:latin typeface="Montserrat"/>
                <a:ea typeface="Montserrat"/>
                <a:cs typeface="Montserrat"/>
                <a:sym typeface="Montserrat"/>
              </a:rPr>
              <a:t>of</a:t>
            </a:r>
            <a:r>
              <a:rPr lang="en-US" sz="1099">
                <a:solidFill>
                  <a:srgbClr val="000000"/>
                </a:solidFill>
                <a:latin typeface="Montserrat"/>
                <a:ea typeface="Montserrat"/>
                <a:cs typeface="Montserrat"/>
                <a:sym typeface="Montserrat"/>
              </a:rPr>
              <a:t> the system is confirmed by signing our job completion form or by using the system after handover</a:t>
            </a:r>
          </a:p>
          <a:p>
            <a:pPr algn="l">
              <a:lnSpc>
                <a:spcPts val="1099"/>
              </a:lnSpc>
            </a:pPr>
          </a:p>
          <a:p>
            <a:pPr algn="l">
              <a:lnSpc>
                <a:spcPts val="1299"/>
              </a:lnSpc>
            </a:pPr>
            <a:r>
              <a:rPr lang="en-US" b="true" sz="1299" u="sng">
                <a:solidFill>
                  <a:srgbClr val="000000"/>
                </a:solidFill>
                <a:latin typeface="Montserrat Bold"/>
                <a:ea typeface="Montserrat Bold"/>
                <a:cs typeface="Montserrat Bold"/>
                <a:sym typeface="Montserrat Bold"/>
              </a:rPr>
              <a:t>4. Warranties</a:t>
            </a:r>
          </a:p>
          <a:p>
            <a:pPr algn="l">
              <a:lnSpc>
                <a:spcPts val="1099"/>
              </a:lnSpc>
            </a:pPr>
          </a:p>
          <a:p>
            <a:pPr algn="l">
              <a:lnSpc>
                <a:spcPts val="1099"/>
              </a:lnSpc>
            </a:pPr>
            <a:r>
              <a:rPr lang="en-US" b="true" sz="1099">
                <a:solidFill>
                  <a:srgbClr val="000000"/>
                </a:solidFill>
                <a:latin typeface="Montserrat Bold"/>
                <a:ea typeface="Montserrat Bold"/>
                <a:cs typeface="Montserrat Bold"/>
                <a:sym typeface="Montserrat Bold"/>
              </a:rPr>
              <a:t>4.1. Workmanship: </a:t>
            </a:r>
            <a:r>
              <a:rPr lang="en-US" sz="1099">
                <a:solidFill>
                  <a:srgbClr val="000000"/>
                </a:solidFill>
                <a:latin typeface="Montserrat"/>
                <a:ea typeface="Montserrat"/>
                <a:cs typeface="Montserrat"/>
                <a:sym typeface="Montserrat"/>
              </a:rPr>
              <a:t>We provide a 12-month warranty on our installation workmanship from the date of completion. This covers faults directly resulting from our installation process.</a:t>
            </a:r>
          </a:p>
          <a:p>
            <a:pPr algn="l">
              <a:lnSpc>
                <a:spcPts val="1099"/>
              </a:lnSpc>
            </a:pPr>
          </a:p>
          <a:p>
            <a:pPr algn="l">
              <a:lnSpc>
                <a:spcPts val="1099"/>
              </a:lnSpc>
            </a:pPr>
            <a:r>
              <a:rPr lang="en-US" b="true" sz="1099">
                <a:solidFill>
                  <a:srgbClr val="000000"/>
                </a:solidFill>
                <a:latin typeface="Montserrat Bold"/>
                <a:ea typeface="Montserrat Bold"/>
                <a:cs typeface="Montserrat Bold"/>
                <a:sym typeface="Montserrat Bold"/>
              </a:rPr>
              <a:t>4.2. Equipment:</a:t>
            </a:r>
            <a:r>
              <a:rPr lang="en-US" sz="1099">
                <a:solidFill>
                  <a:srgbClr val="000000"/>
                </a:solidFill>
                <a:latin typeface="Montserrat"/>
                <a:ea typeface="Montserrat"/>
                <a:cs typeface="Montserrat"/>
                <a:sym typeface="Montserrat"/>
              </a:rPr>
              <a:t> All new equipment is covered by the manufacturer’s warranty, the terms and duration of which vary by product. We will facilitate warranty claims on your behalf, but the manufacturer holds the final decision on repair or replacement.</a:t>
            </a:r>
          </a:p>
          <a:p>
            <a:pPr algn="l">
              <a:lnSpc>
                <a:spcPts val="1099"/>
              </a:lnSpc>
            </a:pPr>
          </a:p>
          <a:p>
            <a:pPr algn="l">
              <a:lnSpc>
                <a:spcPts val="1099"/>
              </a:lnSpc>
            </a:pPr>
            <a:r>
              <a:rPr lang="en-US" b="true" sz="1099">
                <a:solidFill>
                  <a:srgbClr val="000000"/>
                </a:solidFill>
                <a:latin typeface="Montserrat Bold"/>
                <a:ea typeface="Montserrat Bold"/>
                <a:cs typeface="Montserrat Bold"/>
                <a:sym typeface="Montserrat Bold"/>
              </a:rPr>
              <a:t>4.3. Exclusions</a:t>
            </a:r>
            <a:r>
              <a:rPr lang="en-US" sz="1099">
                <a:solidFill>
                  <a:srgbClr val="000000"/>
                </a:solidFill>
                <a:latin typeface="Montserrat"/>
                <a:ea typeface="Montserrat"/>
                <a:cs typeface="Montserrat"/>
                <a:sym typeface="Montserrat"/>
              </a:rPr>
              <a:t>: This warranty does not cover faults arising from:</a:t>
            </a:r>
          </a:p>
          <a:p>
            <a:pPr algn="l">
              <a:lnSpc>
                <a:spcPts val="1099"/>
              </a:lnSpc>
            </a:pP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Misuse, neglect, or tampering by any person other than our authorized technicians.</a:t>
            </a: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Acts of God, power surges, lightning, fire, flood, or other external forces.</a:t>
            </a: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Failure of third-party services required for system operation (e.g., internet connection, armed response).</a:t>
            </a:r>
          </a:p>
          <a:p>
            <a:pPr algn="l" marL="237397" indent="-118698" lvl="1">
              <a:lnSpc>
                <a:spcPts val="1099"/>
              </a:lnSpc>
              <a:buFont typeface="Arial"/>
              <a:buChar char="•"/>
            </a:pPr>
            <a:r>
              <a:rPr lang="en-US" sz="1099">
                <a:solidFill>
                  <a:srgbClr val="000000"/>
                </a:solidFill>
                <a:latin typeface="Montserrat"/>
                <a:ea typeface="Montserrat"/>
                <a:cs typeface="Montserrat"/>
                <a:sym typeface="Montserrat"/>
              </a:rPr>
              <a:t>Consumable items (e.g., batteries, fuses).</a:t>
            </a:r>
          </a:p>
        </p:txBody>
      </p:sp>
      <p:sp>
        <p:nvSpPr>
          <p:cNvPr name="Freeform 13" id="13"/>
          <p:cNvSpPr/>
          <p:nvPr/>
        </p:nvSpPr>
        <p:spPr>
          <a:xfrm flipH="false" flipV="false" rot="0">
            <a:off x="1810694" y="164651"/>
            <a:ext cx="477141" cy="476676"/>
          </a:xfrm>
          <a:custGeom>
            <a:avLst/>
            <a:gdLst/>
            <a:ahLst/>
            <a:cxnLst/>
            <a:rect r="r" b="b" t="t" l="l"/>
            <a:pathLst>
              <a:path h="476676" w="477141">
                <a:moveTo>
                  <a:pt x="0" y="0"/>
                </a:moveTo>
                <a:lnTo>
                  <a:pt x="477141" y="0"/>
                </a:lnTo>
                <a:lnTo>
                  <a:pt x="477141" y="476675"/>
                </a:lnTo>
                <a:lnTo>
                  <a:pt x="0" y="476675"/>
                </a:lnTo>
                <a:lnTo>
                  <a:pt x="0" y="0"/>
                </a:lnTo>
                <a:close/>
              </a:path>
            </a:pathLst>
          </a:custGeom>
          <a:blipFill>
            <a:blip r:embed="rId3"/>
            <a:stretch>
              <a:fillRect l="-334102" t="-41082" r="-406" b="-177571"/>
            </a:stretch>
          </a:blipFill>
        </p:spPr>
      </p:sp>
      <p:sp>
        <p:nvSpPr>
          <p:cNvPr name="Freeform 14" id="14"/>
          <p:cNvSpPr/>
          <p:nvPr/>
        </p:nvSpPr>
        <p:spPr>
          <a:xfrm flipH="false" flipV="false" rot="0">
            <a:off x="1899511" y="627566"/>
            <a:ext cx="59055" cy="79529"/>
          </a:xfrm>
          <a:custGeom>
            <a:avLst/>
            <a:gdLst/>
            <a:ahLst/>
            <a:cxnLst/>
            <a:rect r="r" b="b" t="t" l="l"/>
            <a:pathLst>
              <a:path h="79529" w="59055">
                <a:moveTo>
                  <a:pt x="0" y="0"/>
                </a:moveTo>
                <a:lnTo>
                  <a:pt x="59055" y="0"/>
                </a:lnTo>
                <a:lnTo>
                  <a:pt x="59055" y="79530"/>
                </a:lnTo>
                <a:lnTo>
                  <a:pt x="0" y="79530"/>
                </a:lnTo>
                <a:lnTo>
                  <a:pt x="0" y="0"/>
                </a:lnTo>
                <a:close/>
              </a:path>
            </a:pathLst>
          </a:custGeom>
          <a:blipFill>
            <a:blip r:embed="rId3"/>
            <a:stretch>
              <a:fillRect l="-2849808" t="-831053" r="-560846" b="-978868"/>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94612" y="4698423"/>
            <a:ext cx="27939" cy="591934"/>
          </a:xfrm>
          <a:prstGeom prst="rect">
            <a:avLst/>
          </a:prstGeom>
        </p:spPr>
        <p:txBody>
          <a:bodyPr anchor="t" rtlCol="false" tIns="0" lIns="0" bIns="0" rIns="0">
            <a:spAutoFit/>
          </a:bodyPr>
          <a:lstStyle/>
          <a:p>
            <a:pPr algn="ctr">
              <a:lnSpc>
                <a:spcPts val="4927"/>
              </a:lnSpc>
              <a:spcBef>
                <a:spcPct val="0"/>
              </a:spcBef>
            </a:pPr>
          </a:p>
        </p:txBody>
      </p:sp>
      <p:sp>
        <p:nvSpPr>
          <p:cNvPr name="TextBox 3" id="3"/>
          <p:cNvSpPr txBox="true"/>
          <p:nvPr/>
        </p:nvSpPr>
        <p:spPr>
          <a:xfrm rot="0">
            <a:off x="3325858" y="741264"/>
            <a:ext cx="9525" cy="198120"/>
          </a:xfrm>
          <a:prstGeom prst="rect">
            <a:avLst/>
          </a:prstGeom>
        </p:spPr>
        <p:txBody>
          <a:bodyPr anchor="t" rtlCol="false" tIns="0" lIns="0" bIns="0" rIns="0">
            <a:spAutoFit/>
          </a:bodyPr>
          <a:lstStyle/>
          <a:p>
            <a:pPr algn="ctr">
              <a:lnSpc>
                <a:spcPts val="1679"/>
              </a:lnSpc>
              <a:spcBef>
                <a:spcPct val="0"/>
              </a:spcBef>
            </a:pPr>
          </a:p>
        </p:txBody>
      </p:sp>
      <p:sp>
        <p:nvSpPr>
          <p:cNvPr name="TextBox 4" id="4"/>
          <p:cNvSpPr txBox="true"/>
          <p:nvPr/>
        </p:nvSpPr>
        <p:spPr>
          <a:xfrm rot="0">
            <a:off x="3325858" y="741264"/>
            <a:ext cx="9525" cy="198120"/>
          </a:xfrm>
          <a:prstGeom prst="rect">
            <a:avLst/>
          </a:prstGeom>
        </p:spPr>
        <p:txBody>
          <a:bodyPr anchor="t" rtlCol="false" tIns="0" lIns="0" bIns="0" rIns="0">
            <a:spAutoFit/>
          </a:bodyPr>
          <a:lstStyle/>
          <a:p>
            <a:pPr algn="ctr">
              <a:lnSpc>
                <a:spcPts val="1679"/>
              </a:lnSpc>
              <a:spcBef>
                <a:spcPct val="0"/>
              </a:spcBef>
            </a:pPr>
          </a:p>
        </p:txBody>
      </p:sp>
      <p:sp>
        <p:nvSpPr>
          <p:cNvPr name="Freeform 5" id="5"/>
          <p:cNvSpPr/>
          <p:nvPr/>
        </p:nvSpPr>
        <p:spPr>
          <a:xfrm flipH="true" flipV="false" rot="10625993">
            <a:off x="-110548" y="-979323"/>
            <a:ext cx="8340832" cy="3461445"/>
          </a:xfrm>
          <a:custGeom>
            <a:avLst/>
            <a:gdLst/>
            <a:ahLst/>
            <a:cxnLst/>
            <a:rect r="r" b="b" t="t" l="l"/>
            <a:pathLst>
              <a:path h="3461445" w="8340832">
                <a:moveTo>
                  <a:pt x="8340832" y="0"/>
                </a:moveTo>
                <a:lnTo>
                  <a:pt x="0" y="0"/>
                </a:lnTo>
                <a:lnTo>
                  <a:pt x="0" y="3461445"/>
                </a:lnTo>
                <a:lnTo>
                  <a:pt x="8340832" y="3461445"/>
                </a:lnTo>
                <a:lnTo>
                  <a:pt x="8340832" y="0"/>
                </a:lnTo>
                <a:close/>
              </a:path>
            </a:pathLst>
          </a:custGeom>
          <a:blipFill>
            <a:blip r:embed="rId2"/>
            <a:stretch>
              <a:fillRect l="0" t="0" r="0" b="0"/>
            </a:stretch>
          </a:blipFill>
        </p:spPr>
      </p:sp>
      <p:grpSp>
        <p:nvGrpSpPr>
          <p:cNvPr name="Group 6" id="6"/>
          <p:cNvGrpSpPr/>
          <p:nvPr/>
        </p:nvGrpSpPr>
        <p:grpSpPr>
          <a:xfrm rot="-952535">
            <a:off x="-219938" y="1775802"/>
            <a:ext cx="2398419" cy="709703"/>
            <a:chOff x="0" y="0"/>
            <a:chExt cx="859539" cy="254342"/>
          </a:xfrm>
        </p:grpSpPr>
        <p:sp>
          <p:nvSpPr>
            <p:cNvPr name="Freeform 7" id="7"/>
            <p:cNvSpPr/>
            <p:nvPr/>
          </p:nvSpPr>
          <p:spPr>
            <a:xfrm flipH="false" flipV="false" rot="0">
              <a:off x="0" y="0"/>
              <a:ext cx="859539" cy="254342"/>
            </a:xfrm>
            <a:custGeom>
              <a:avLst/>
              <a:gdLst/>
              <a:ahLst/>
              <a:cxnLst/>
              <a:rect r="r" b="b" t="t" l="l"/>
              <a:pathLst>
                <a:path h="254342" w="859539">
                  <a:moveTo>
                    <a:pt x="0" y="0"/>
                  </a:moveTo>
                  <a:lnTo>
                    <a:pt x="859539" y="0"/>
                  </a:lnTo>
                  <a:lnTo>
                    <a:pt x="859539" y="254342"/>
                  </a:lnTo>
                  <a:lnTo>
                    <a:pt x="0" y="254342"/>
                  </a:lnTo>
                  <a:close/>
                </a:path>
              </a:pathLst>
            </a:custGeom>
            <a:solidFill>
              <a:srgbClr val="FFFFFF"/>
            </a:solidFill>
          </p:spPr>
        </p:sp>
        <p:sp>
          <p:nvSpPr>
            <p:cNvPr name="TextBox 8" id="8"/>
            <p:cNvSpPr txBox="true"/>
            <p:nvPr/>
          </p:nvSpPr>
          <p:spPr>
            <a:xfrm>
              <a:off x="0" y="0"/>
              <a:ext cx="859539" cy="254342"/>
            </a:xfrm>
            <a:prstGeom prst="rect">
              <a:avLst/>
            </a:prstGeom>
          </p:spPr>
          <p:txBody>
            <a:bodyPr anchor="ctr" rtlCol="false" tIns="50800" lIns="50800" bIns="50800" rIns="50800"/>
            <a:lstStyle/>
            <a:p>
              <a:pPr algn="ctr">
                <a:lnSpc>
                  <a:spcPts val="1976"/>
                </a:lnSpc>
              </a:pPr>
            </a:p>
          </p:txBody>
        </p:sp>
      </p:grpSp>
      <p:sp>
        <p:nvSpPr>
          <p:cNvPr name="TextBox 9" id="9"/>
          <p:cNvSpPr txBox="true"/>
          <p:nvPr/>
        </p:nvSpPr>
        <p:spPr>
          <a:xfrm rot="0">
            <a:off x="228536" y="1196660"/>
            <a:ext cx="872971" cy="516359"/>
          </a:xfrm>
          <a:prstGeom prst="rect">
            <a:avLst/>
          </a:prstGeom>
        </p:spPr>
        <p:txBody>
          <a:bodyPr anchor="t" rtlCol="false" tIns="0" lIns="0" bIns="0" rIns="0">
            <a:spAutoFit/>
          </a:bodyPr>
          <a:lstStyle/>
          <a:p>
            <a:pPr algn="l">
              <a:lnSpc>
                <a:spcPts val="1300"/>
              </a:lnSpc>
            </a:pPr>
            <a:r>
              <a:rPr lang="en-US" sz="1566" spc="-97" b="true">
                <a:solidFill>
                  <a:srgbClr val="3A9DE9"/>
                </a:solidFill>
                <a:latin typeface="Montserrat Bold"/>
                <a:ea typeface="Montserrat Bold"/>
                <a:cs typeface="Montserrat Bold"/>
                <a:sym typeface="Montserrat Bold"/>
              </a:rPr>
              <a:t>G</a:t>
            </a:r>
            <a:r>
              <a:rPr lang="en-US" sz="1566" spc="-97" b="true">
                <a:solidFill>
                  <a:srgbClr val="D5DDDC"/>
                </a:solidFill>
                <a:latin typeface="Montserrat Bold"/>
                <a:ea typeface="Montserrat Bold"/>
                <a:cs typeface="Montserrat Bold"/>
                <a:sym typeface="Montserrat Bold"/>
              </a:rPr>
              <a:t>lobal </a:t>
            </a:r>
            <a:r>
              <a:rPr lang="en-US" sz="1566" spc="-97" b="true">
                <a:solidFill>
                  <a:srgbClr val="3A9DE9"/>
                </a:solidFill>
                <a:latin typeface="Montserrat Bold"/>
                <a:ea typeface="Montserrat Bold"/>
                <a:cs typeface="Montserrat Bold"/>
                <a:sym typeface="Montserrat Bold"/>
              </a:rPr>
              <a:t>S</a:t>
            </a:r>
            <a:r>
              <a:rPr lang="en-US" sz="1566" spc="-97" b="true">
                <a:solidFill>
                  <a:srgbClr val="D5DDDC"/>
                </a:solidFill>
                <a:latin typeface="Montserrat Bold"/>
                <a:ea typeface="Montserrat Bold"/>
                <a:cs typeface="Montserrat Bold"/>
                <a:sym typeface="Montserrat Bold"/>
              </a:rPr>
              <a:t>ecurity </a:t>
            </a:r>
            <a:r>
              <a:rPr lang="en-US" sz="1566" spc="-97" b="true">
                <a:solidFill>
                  <a:srgbClr val="3A9DE9"/>
                </a:solidFill>
                <a:latin typeface="Montserrat Bold"/>
                <a:ea typeface="Montserrat Bold"/>
                <a:cs typeface="Montserrat Bold"/>
                <a:sym typeface="Montserrat Bold"/>
              </a:rPr>
              <a:t>S</a:t>
            </a:r>
            <a:r>
              <a:rPr lang="en-US" sz="1566" spc="-97" b="true">
                <a:solidFill>
                  <a:srgbClr val="D5DDDC"/>
                </a:solidFill>
                <a:latin typeface="Montserrat Bold"/>
                <a:ea typeface="Montserrat Bold"/>
                <a:cs typeface="Montserrat Bold"/>
                <a:sym typeface="Montserrat Bold"/>
              </a:rPr>
              <a:t>olutions</a:t>
            </a:r>
          </a:p>
        </p:txBody>
      </p:sp>
      <p:sp>
        <p:nvSpPr>
          <p:cNvPr name="Freeform 10" id="10"/>
          <p:cNvSpPr/>
          <p:nvPr/>
        </p:nvSpPr>
        <p:spPr>
          <a:xfrm flipH="false" flipV="false" rot="0">
            <a:off x="228536" y="0"/>
            <a:ext cx="2059299" cy="1474690"/>
          </a:xfrm>
          <a:custGeom>
            <a:avLst/>
            <a:gdLst/>
            <a:ahLst/>
            <a:cxnLst/>
            <a:rect r="r" b="b" t="t" l="l"/>
            <a:pathLst>
              <a:path h="1474690" w="2059299">
                <a:moveTo>
                  <a:pt x="0" y="0"/>
                </a:moveTo>
                <a:lnTo>
                  <a:pt x="2059299" y="0"/>
                </a:lnTo>
                <a:lnTo>
                  <a:pt x="2059299" y="1474690"/>
                </a:lnTo>
                <a:lnTo>
                  <a:pt x="0" y="1474690"/>
                </a:lnTo>
                <a:lnTo>
                  <a:pt x="0" y="0"/>
                </a:lnTo>
                <a:close/>
              </a:path>
            </a:pathLst>
          </a:custGeom>
          <a:blipFill>
            <a:blip r:embed="rId3"/>
            <a:stretch>
              <a:fillRect l="-581" t="-2257" r="-94" b="-743"/>
            </a:stretch>
          </a:blipFill>
        </p:spPr>
      </p:sp>
      <p:sp>
        <p:nvSpPr>
          <p:cNvPr name="TextBox 11" id="11"/>
          <p:cNvSpPr txBox="true"/>
          <p:nvPr/>
        </p:nvSpPr>
        <p:spPr>
          <a:xfrm rot="0">
            <a:off x="228536" y="2159229"/>
            <a:ext cx="7093345" cy="8205987"/>
          </a:xfrm>
          <a:prstGeom prst="rect">
            <a:avLst/>
          </a:prstGeom>
        </p:spPr>
        <p:txBody>
          <a:bodyPr anchor="t" rtlCol="false" tIns="0" lIns="0" bIns="0" rIns="0">
            <a:spAutoFit/>
          </a:bodyPr>
          <a:lstStyle/>
          <a:p>
            <a:pPr algn="l">
              <a:lnSpc>
                <a:spcPts val="1299"/>
              </a:lnSpc>
            </a:pPr>
            <a:r>
              <a:rPr lang="en-US" sz="1299" u="sng" b="true">
                <a:solidFill>
                  <a:srgbClr val="000000"/>
                </a:solidFill>
                <a:latin typeface="Montserrat Bold"/>
                <a:ea typeface="Montserrat Bold"/>
                <a:cs typeface="Montserrat Bold"/>
                <a:sym typeface="Montserrat Bold"/>
              </a:rPr>
              <a:t>5. Payment Terms</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5.1</a:t>
            </a:r>
            <a:r>
              <a:rPr lang="en-US" sz="1099" b="true">
                <a:solidFill>
                  <a:srgbClr val="000000"/>
                </a:solidFill>
                <a:latin typeface="Montserrat Bold"/>
                <a:ea typeface="Montserrat Bold"/>
                <a:cs typeface="Montserrat Bold"/>
                <a:sym typeface="Montserrat Bold"/>
              </a:rPr>
              <a:t>. Deposit:</a:t>
            </a:r>
            <a:r>
              <a:rPr lang="en-US" sz="1099">
                <a:solidFill>
                  <a:srgbClr val="000000"/>
                </a:solidFill>
                <a:latin typeface="Montserrat"/>
                <a:ea typeface="Montserrat"/>
                <a:cs typeface="Montserrat"/>
                <a:sym typeface="Montserrat"/>
              </a:rPr>
              <a:t> A deposit of 75% of the total quoted price is required upon acceptance of the Quotation to secure equipment and scheduling.</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5.2</a:t>
            </a:r>
            <a:r>
              <a:rPr lang="en-US" sz="1099" b="true">
                <a:solidFill>
                  <a:srgbClr val="000000"/>
                </a:solidFill>
                <a:latin typeface="Montserrat Bold"/>
                <a:ea typeface="Montserrat Bold"/>
                <a:cs typeface="Montserrat Bold"/>
                <a:sym typeface="Montserrat Bold"/>
              </a:rPr>
              <a:t>. Final Payment:</a:t>
            </a:r>
            <a:r>
              <a:rPr lang="en-US" sz="1099">
                <a:solidFill>
                  <a:srgbClr val="000000"/>
                </a:solidFill>
                <a:latin typeface="Montserrat"/>
                <a:ea typeface="Montserrat"/>
                <a:cs typeface="Montserrat"/>
                <a:sym typeface="Montserrat"/>
              </a:rPr>
              <a:t> The outstanding balance of 25% is due upon completion of the installation and successful handover.</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5.3.</a:t>
            </a:r>
            <a:r>
              <a:rPr lang="en-US" sz="1099" b="true">
                <a:solidFill>
                  <a:srgbClr val="000000"/>
                </a:solidFill>
                <a:latin typeface="Montserrat Bold"/>
                <a:ea typeface="Montserrat Bold"/>
                <a:cs typeface="Montserrat Bold"/>
                <a:sym typeface="Montserrat Bold"/>
              </a:rPr>
              <a:t> Ownership:</a:t>
            </a:r>
            <a:r>
              <a:rPr lang="en-US" sz="1099">
                <a:solidFill>
                  <a:srgbClr val="000000"/>
                </a:solidFill>
                <a:latin typeface="Montserrat"/>
                <a:ea typeface="Montserrat"/>
                <a:cs typeface="Montserrat"/>
                <a:sym typeface="Montserrat"/>
              </a:rPr>
              <a:t> All equipment remains the property of Global Security Solutions until the full, outstanding balance is paid. We reserve the right to enter the Site and remove the System in the event of non-payment.</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5.4</a:t>
            </a:r>
            <a:r>
              <a:rPr lang="en-US" sz="1099" b="true">
                <a:solidFill>
                  <a:srgbClr val="000000"/>
                </a:solidFill>
                <a:latin typeface="Montserrat Bold"/>
                <a:ea typeface="Montserrat Bold"/>
                <a:cs typeface="Montserrat Bold"/>
                <a:sym typeface="Montserrat Bold"/>
              </a:rPr>
              <a:t>. Late Payments</a:t>
            </a:r>
            <a:r>
              <a:rPr lang="en-US" sz="1099">
                <a:solidFill>
                  <a:srgbClr val="000000"/>
                </a:solidFill>
                <a:latin typeface="Montserrat"/>
                <a:ea typeface="Montserrat"/>
                <a:cs typeface="Montserrat"/>
                <a:sym typeface="Montserrat"/>
              </a:rPr>
              <a:t>: We reserve the right to charge interest on all overdue accounts at the maximum rate permissible by law, alternatively at prime plus 5% (as charged by our bankers), calculated daily and compounded monthly from the due date until the date of full payment.</a:t>
            </a:r>
          </a:p>
          <a:p>
            <a:pPr algn="l">
              <a:lnSpc>
                <a:spcPts val="1099"/>
              </a:lnSpc>
            </a:pPr>
          </a:p>
          <a:p>
            <a:pPr algn="l">
              <a:lnSpc>
                <a:spcPts val="1299"/>
              </a:lnSpc>
            </a:pPr>
            <a:r>
              <a:rPr lang="en-US" sz="1299" u="sng" b="true">
                <a:solidFill>
                  <a:srgbClr val="000000"/>
                </a:solidFill>
                <a:latin typeface="Montserrat Bold"/>
                <a:ea typeface="Montserrat Bold"/>
                <a:cs typeface="Montserrat Bold"/>
                <a:sym typeface="Montserrat Bold"/>
              </a:rPr>
              <a:t>6. Data Privacy</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6.1</a:t>
            </a:r>
            <a:r>
              <a:rPr lang="en-US" sz="1099" b="true">
                <a:solidFill>
                  <a:srgbClr val="000000"/>
                </a:solidFill>
                <a:latin typeface="Montserrat Bold"/>
                <a:ea typeface="Montserrat Bold"/>
                <a:cs typeface="Montserrat Bold"/>
                <a:sym typeface="Montserrat Bold"/>
              </a:rPr>
              <a:t>. Compliance:</a:t>
            </a:r>
            <a:r>
              <a:rPr lang="en-US" sz="1099">
                <a:solidFill>
                  <a:srgbClr val="000000"/>
                </a:solidFill>
                <a:latin typeface="Montserrat"/>
                <a:ea typeface="Montserrat"/>
                <a:cs typeface="Montserrat"/>
                <a:sym typeface="Montserrat"/>
              </a:rPr>
              <a:t> We handle your personal information in compliance with the Protection of Personal Information Act (POPIA) of South Africa. Your data is used solely for the purposes of providing our Services, billing, and communication.</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6.2</a:t>
            </a:r>
            <a:r>
              <a:rPr lang="en-US" sz="1099" b="true">
                <a:solidFill>
                  <a:srgbClr val="000000"/>
                </a:solidFill>
                <a:latin typeface="Montserrat Bold"/>
                <a:ea typeface="Montserrat Bold"/>
                <a:cs typeface="Montserrat Bold"/>
                <a:sym typeface="Montserrat Bold"/>
              </a:rPr>
              <a:t>. System Data: </a:t>
            </a:r>
            <a:r>
              <a:rPr lang="en-US" sz="1099">
                <a:solidFill>
                  <a:srgbClr val="000000"/>
                </a:solidFill>
                <a:latin typeface="Montserrat"/>
                <a:ea typeface="Montserrat"/>
                <a:cs typeface="Montserrat"/>
                <a:sym typeface="Montserrat"/>
              </a:rPr>
              <a:t>You are the legal "Data Controller" for all data captured and stored by your System (e.g., CCTV footage, access logs). You are solely responsible for its lawful use and management.</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6.3.</a:t>
            </a:r>
            <a:r>
              <a:rPr lang="en-US" sz="1099" b="true">
                <a:solidFill>
                  <a:srgbClr val="000000"/>
                </a:solidFill>
                <a:latin typeface="Montserrat Bold"/>
                <a:ea typeface="Montserrat Bold"/>
                <a:cs typeface="Montserrat Bold"/>
                <a:sym typeface="Montserrat Bold"/>
              </a:rPr>
              <a:t> Remote Access:</a:t>
            </a:r>
            <a:r>
              <a:rPr lang="en-US" sz="1099">
                <a:solidFill>
                  <a:srgbClr val="000000"/>
                </a:solidFill>
                <a:latin typeface="Montserrat"/>
                <a:ea typeface="Montserrat"/>
                <a:cs typeface="Montserrat"/>
                <a:sym typeface="Montserrat"/>
              </a:rPr>
              <a:t> For maintenance or troubleshooting, we may require remote access to your System. This will only be done with your explicit consent for each instance, which may be provided verbally, via email, or through an official support request.</a:t>
            </a:r>
          </a:p>
          <a:p>
            <a:pPr algn="l">
              <a:lnSpc>
                <a:spcPts val="1099"/>
              </a:lnSpc>
            </a:pPr>
          </a:p>
          <a:p>
            <a:pPr algn="l">
              <a:lnSpc>
                <a:spcPts val="1299"/>
              </a:lnSpc>
            </a:pPr>
            <a:r>
              <a:rPr lang="en-US" sz="1299" u="sng" b="true">
                <a:solidFill>
                  <a:srgbClr val="000000"/>
                </a:solidFill>
                <a:latin typeface="Montserrat Bold"/>
                <a:ea typeface="Montserrat Bold"/>
                <a:cs typeface="Montserrat Bold"/>
                <a:sym typeface="Montserrat Bold"/>
              </a:rPr>
              <a:t>7. Maintenance and Support</a:t>
            </a:r>
          </a:p>
          <a:p>
            <a:pPr algn="l">
              <a:lnSpc>
                <a:spcPts val="1299"/>
              </a:lnSpc>
            </a:pPr>
          </a:p>
          <a:p>
            <a:pPr algn="l">
              <a:lnSpc>
                <a:spcPts val="1099"/>
              </a:lnSpc>
            </a:pPr>
            <a:r>
              <a:rPr lang="en-US" sz="1099" b="true">
                <a:solidFill>
                  <a:srgbClr val="000000"/>
                </a:solidFill>
                <a:latin typeface="Montserrat Bold"/>
                <a:ea typeface="Montserrat Bold"/>
                <a:cs typeface="Montserrat Bold"/>
                <a:sym typeface="Montserrat Bold"/>
              </a:rPr>
              <a:t>7.1. </a:t>
            </a:r>
            <a:r>
              <a:rPr lang="en-US" sz="1099" b="true">
                <a:solidFill>
                  <a:srgbClr val="000000"/>
                </a:solidFill>
                <a:latin typeface="Montserrat Bold"/>
                <a:ea typeface="Montserrat Bold"/>
                <a:cs typeface="Montserrat Bold"/>
                <a:sym typeface="Montserrat Bold"/>
              </a:rPr>
              <a:t>Post-Warranty Service:</a:t>
            </a:r>
            <a:r>
              <a:rPr lang="en-US" sz="1099">
                <a:solidFill>
                  <a:srgbClr val="000000"/>
                </a:solidFill>
                <a:latin typeface="Montserrat"/>
                <a:ea typeface="Montserrat"/>
                <a:cs typeface="Montserrat"/>
                <a:sym typeface="Montserrat"/>
              </a:rPr>
              <a:t> Service calls or repairs requested after the warranty period will be chargeable at our standard rates.</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7.2. Maintenance Contracts:</a:t>
            </a:r>
            <a:r>
              <a:rPr lang="en-US" sz="1099">
                <a:solidFill>
                  <a:srgbClr val="000000"/>
                </a:solidFill>
                <a:latin typeface="Montserrat"/>
                <a:ea typeface="Montserrat"/>
                <a:cs typeface="Montserrat"/>
                <a:sym typeface="Montserrat"/>
              </a:rPr>
              <a:t> </a:t>
            </a:r>
            <a:r>
              <a:rPr lang="en-US" sz="1099">
                <a:solidFill>
                  <a:srgbClr val="000000"/>
                </a:solidFill>
                <a:latin typeface="Montserrat"/>
                <a:ea typeface="Montserrat"/>
                <a:cs typeface="Montserrat"/>
                <a:sym typeface="Montserrat"/>
              </a:rPr>
              <a:t>We offer optional Maintenance Contracts for ongoing preventative care and priority support. The terms of these contracts are outlined in a separate agreement.</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7.3. </a:t>
            </a:r>
            <a:r>
              <a:rPr lang="en-US" sz="1099" b="true">
                <a:solidFill>
                  <a:srgbClr val="000000"/>
                </a:solidFill>
                <a:latin typeface="Montserrat Bold"/>
                <a:ea typeface="Montserrat Bold"/>
                <a:cs typeface="Montserrat Bold"/>
                <a:sym typeface="Montserrat Bold"/>
              </a:rPr>
              <a:t>Call-Outs:</a:t>
            </a:r>
            <a:r>
              <a:rPr lang="en-US" sz="1099">
                <a:solidFill>
                  <a:srgbClr val="000000"/>
                </a:solidFill>
                <a:latin typeface="Montserrat"/>
                <a:ea typeface="Montserrat"/>
                <a:cs typeface="Montserrat"/>
                <a:sym typeface="Montserrat"/>
              </a:rPr>
              <a:t> A standard call-out fee is applicable for all on-site support requests outside of a valid workmanship warranty claim.</a:t>
            </a:r>
          </a:p>
          <a:p>
            <a:pPr algn="l">
              <a:lnSpc>
                <a:spcPts val="1099"/>
              </a:lnSpc>
            </a:pPr>
          </a:p>
          <a:p>
            <a:pPr algn="l">
              <a:lnSpc>
                <a:spcPts val="1299"/>
              </a:lnSpc>
            </a:pPr>
            <a:r>
              <a:rPr lang="en-US" sz="1299" u="sng" b="true">
                <a:solidFill>
                  <a:srgbClr val="000000"/>
                </a:solidFill>
                <a:latin typeface="Montserrat Bold"/>
                <a:ea typeface="Montserrat Bold"/>
                <a:cs typeface="Montserrat Bold"/>
                <a:sym typeface="Montserrat Bold"/>
              </a:rPr>
              <a:t>8. Limitation of Liability</a:t>
            </a:r>
          </a:p>
          <a:p>
            <a:pPr algn="l">
              <a:lnSpc>
                <a:spcPts val="1299"/>
              </a:lnSpc>
            </a:pPr>
          </a:p>
          <a:p>
            <a:pPr algn="l">
              <a:lnSpc>
                <a:spcPts val="1099"/>
              </a:lnSpc>
            </a:pPr>
            <a:r>
              <a:rPr lang="en-US" sz="1099" b="true">
                <a:solidFill>
                  <a:srgbClr val="000000"/>
                </a:solidFill>
                <a:latin typeface="Montserrat Bold"/>
                <a:ea typeface="Montserrat Bold"/>
                <a:cs typeface="Montserrat Bold"/>
                <a:sym typeface="Montserrat Bold"/>
              </a:rPr>
              <a:t>8.1</a:t>
            </a:r>
            <a:r>
              <a:rPr lang="en-US" sz="1099" b="true">
                <a:solidFill>
                  <a:srgbClr val="000000"/>
                </a:solidFill>
                <a:latin typeface="Montserrat Bold"/>
                <a:ea typeface="Montserrat Bold"/>
                <a:cs typeface="Montserrat Bold"/>
                <a:sym typeface="Montserrat Bold"/>
              </a:rPr>
              <a:t>. No Guarantee:</a:t>
            </a:r>
            <a:r>
              <a:rPr lang="en-US" sz="1099">
                <a:solidFill>
                  <a:srgbClr val="000000"/>
                </a:solidFill>
                <a:latin typeface="Montserrat"/>
                <a:ea typeface="Montserrat"/>
                <a:cs typeface="Montserrat"/>
                <a:sym typeface="Montserrat"/>
              </a:rPr>
              <a:t> You acknowledge that a security system is a deterrent and does not offer a guarantee against burglary, loss, or harm. Global Security Solutions is not an insurer.</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8.2. Indemnity: </a:t>
            </a:r>
            <a:r>
              <a:rPr lang="en-US" sz="1099">
                <a:solidFill>
                  <a:srgbClr val="000000"/>
                </a:solidFill>
                <a:latin typeface="Montserrat"/>
                <a:ea typeface="Montserrat"/>
                <a:cs typeface="Montserrat"/>
                <a:sym typeface="Montserrat"/>
              </a:rPr>
              <a:t>We shall not be liable for any direct, indirect, or consequential loss or damage suffered by you or any third party, including loss of property, injury, or loss of life, arising from system failure, non-performance, or any breach of this Agreement, except in the case of our gross negligence.</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8.3. Maximum Liability:</a:t>
            </a:r>
            <a:r>
              <a:rPr lang="en-US" sz="1099">
                <a:solidFill>
                  <a:srgbClr val="000000"/>
                </a:solidFill>
                <a:latin typeface="Montserrat"/>
                <a:ea typeface="Montserrat"/>
                <a:cs typeface="Montserrat"/>
                <a:sym typeface="Montserrat"/>
              </a:rPr>
              <a:t> In any event, our total liability under this Agreement shall be limited to the total value paid by you for the Services outlined in the relevant Quotation.</a:t>
            </a:r>
          </a:p>
          <a:p>
            <a:pPr algn="l">
              <a:lnSpc>
                <a:spcPts val="1099"/>
              </a:lnSpc>
            </a:pPr>
          </a:p>
          <a:p>
            <a:pPr algn="l">
              <a:lnSpc>
                <a:spcPts val="1299"/>
              </a:lnSpc>
            </a:pPr>
            <a:r>
              <a:rPr lang="en-US" sz="1299" u="sng" b="true">
                <a:solidFill>
                  <a:srgbClr val="000000"/>
                </a:solidFill>
                <a:latin typeface="Montserrat Bold"/>
                <a:ea typeface="Montserrat Bold"/>
                <a:cs typeface="Montserrat Bold"/>
                <a:sym typeface="Montserrat Bold"/>
              </a:rPr>
              <a:t>9. Termination</a:t>
            </a:r>
          </a:p>
          <a:p>
            <a:pPr algn="l">
              <a:lnSpc>
                <a:spcPts val="1099"/>
              </a:lnSpc>
            </a:pPr>
          </a:p>
          <a:p>
            <a:pPr algn="l">
              <a:lnSpc>
                <a:spcPts val="1099"/>
              </a:lnSpc>
            </a:pPr>
            <a:r>
              <a:rPr lang="en-US" sz="1099" b="true">
                <a:solidFill>
                  <a:srgbClr val="000000"/>
                </a:solidFill>
                <a:latin typeface="Montserrat Bold"/>
                <a:ea typeface="Montserrat Bold"/>
                <a:cs typeface="Montserrat Bold"/>
                <a:sym typeface="Montserrat Bold"/>
              </a:rPr>
              <a:t>9.1. By You: </a:t>
            </a:r>
            <a:r>
              <a:rPr lang="en-US" sz="1099">
                <a:solidFill>
                  <a:srgbClr val="000000"/>
                </a:solidFill>
                <a:latin typeface="Montserrat"/>
                <a:ea typeface="Montserrat"/>
                <a:cs typeface="Montserrat"/>
                <a:sym typeface="Montserrat"/>
              </a:rPr>
              <a:t>You may terminate this Agreement by providing written notice. Upon termination: The 75% initial deposit is non-refundable and will be retained by us to cover administrative costs and equipment stocking. If termination occurs after work has commenced, you will be liable for the cost of all work performed and non-returnable equipment ordered up to the date of termination. Any such costs incurred in excess of the retained deposit will be invoiced and become immediately due.</a:t>
            </a:r>
          </a:p>
        </p:txBody>
      </p:sp>
      <p:sp>
        <p:nvSpPr>
          <p:cNvPr name="Freeform 12" id="12"/>
          <p:cNvSpPr/>
          <p:nvPr/>
        </p:nvSpPr>
        <p:spPr>
          <a:xfrm flipH="false" flipV="false" rot="0">
            <a:off x="1810694" y="164651"/>
            <a:ext cx="477141" cy="476676"/>
          </a:xfrm>
          <a:custGeom>
            <a:avLst/>
            <a:gdLst/>
            <a:ahLst/>
            <a:cxnLst/>
            <a:rect r="r" b="b" t="t" l="l"/>
            <a:pathLst>
              <a:path h="476676" w="477141">
                <a:moveTo>
                  <a:pt x="0" y="0"/>
                </a:moveTo>
                <a:lnTo>
                  <a:pt x="477141" y="0"/>
                </a:lnTo>
                <a:lnTo>
                  <a:pt x="477141" y="476675"/>
                </a:lnTo>
                <a:lnTo>
                  <a:pt x="0" y="476675"/>
                </a:lnTo>
                <a:lnTo>
                  <a:pt x="0" y="0"/>
                </a:lnTo>
                <a:close/>
              </a:path>
            </a:pathLst>
          </a:custGeom>
          <a:blipFill>
            <a:blip r:embed="rId3"/>
            <a:stretch>
              <a:fillRect l="-334102" t="-41082" r="-406" b="-177571"/>
            </a:stretch>
          </a:blipFill>
        </p:spPr>
      </p:sp>
      <p:sp>
        <p:nvSpPr>
          <p:cNvPr name="Freeform 13" id="13"/>
          <p:cNvSpPr/>
          <p:nvPr/>
        </p:nvSpPr>
        <p:spPr>
          <a:xfrm flipH="false" flipV="false" rot="0">
            <a:off x="1899511" y="627566"/>
            <a:ext cx="59055" cy="79529"/>
          </a:xfrm>
          <a:custGeom>
            <a:avLst/>
            <a:gdLst/>
            <a:ahLst/>
            <a:cxnLst/>
            <a:rect r="r" b="b" t="t" l="l"/>
            <a:pathLst>
              <a:path h="79529" w="59055">
                <a:moveTo>
                  <a:pt x="0" y="0"/>
                </a:moveTo>
                <a:lnTo>
                  <a:pt x="59055" y="0"/>
                </a:lnTo>
                <a:lnTo>
                  <a:pt x="59055" y="79530"/>
                </a:lnTo>
                <a:lnTo>
                  <a:pt x="0" y="79530"/>
                </a:lnTo>
                <a:lnTo>
                  <a:pt x="0" y="0"/>
                </a:lnTo>
                <a:close/>
              </a:path>
            </a:pathLst>
          </a:custGeom>
          <a:blipFill>
            <a:blip r:embed="rId3"/>
            <a:stretch>
              <a:fillRect l="-2849808" t="-831053" r="-560846" b="-978868"/>
            </a:stretch>
          </a:blipFill>
        </p:spPr>
      </p:sp>
      <p:sp>
        <p:nvSpPr>
          <p:cNvPr name="TextBox 14" id="14"/>
          <p:cNvSpPr txBox="true"/>
          <p:nvPr/>
        </p:nvSpPr>
        <p:spPr>
          <a:xfrm rot="0">
            <a:off x="2308582" y="153462"/>
            <a:ext cx="5013299" cy="968119"/>
          </a:xfrm>
          <a:prstGeom prst="rect">
            <a:avLst/>
          </a:prstGeom>
        </p:spPr>
        <p:txBody>
          <a:bodyPr anchor="t" rtlCol="false" tIns="0" lIns="0" bIns="0" rIns="0">
            <a:spAutoFit/>
          </a:bodyPr>
          <a:lstStyle/>
          <a:p>
            <a:pPr algn="ctr">
              <a:lnSpc>
                <a:spcPts val="2508"/>
              </a:lnSpc>
            </a:pPr>
            <a:r>
              <a:rPr lang="en-US" b="true" sz="2818" spc="-166">
                <a:solidFill>
                  <a:srgbClr val="D5DDDC"/>
                </a:solidFill>
                <a:latin typeface="Montserrat Bold"/>
                <a:ea typeface="Montserrat Bold"/>
                <a:cs typeface="Montserrat Bold"/>
                <a:sym typeface="Montserrat Bold"/>
              </a:rPr>
              <a:t>GENERAL TERMS </a:t>
            </a:r>
          </a:p>
          <a:p>
            <a:pPr algn="ctr">
              <a:lnSpc>
                <a:spcPts val="2508"/>
              </a:lnSpc>
            </a:pPr>
            <a:r>
              <a:rPr lang="en-US" b="true" sz="2818" spc="-166">
                <a:solidFill>
                  <a:srgbClr val="D5DDDC"/>
                </a:solidFill>
                <a:latin typeface="Montserrat Bold"/>
                <a:ea typeface="Montserrat Bold"/>
                <a:cs typeface="Montserrat Bold"/>
                <a:sym typeface="Montserrat Bold"/>
              </a:rPr>
              <a:t>&amp;</a:t>
            </a:r>
          </a:p>
          <a:p>
            <a:pPr algn="ctr">
              <a:lnSpc>
                <a:spcPts val="2508"/>
              </a:lnSpc>
            </a:pPr>
            <a:r>
              <a:rPr lang="en-US" b="true" sz="2818" spc="-166">
                <a:solidFill>
                  <a:srgbClr val="D5DDDC"/>
                </a:solidFill>
                <a:latin typeface="Montserrat Bold"/>
                <a:ea typeface="Montserrat Bold"/>
                <a:cs typeface="Montserrat Bold"/>
                <a:sym typeface="Montserrat Bold"/>
              </a:rPr>
              <a:t>CONDITIONS OF QUOTATION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25858" y="741264"/>
            <a:ext cx="9525" cy="198120"/>
          </a:xfrm>
          <a:prstGeom prst="rect">
            <a:avLst/>
          </a:prstGeom>
        </p:spPr>
        <p:txBody>
          <a:bodyPr anchor="t" rtlCol="false" tIns="0" lIns="0" bIns="0" rIns="0">
            <a:spAutoFit/>
          </a:bodyPr>
          <a:lstStyle/>
          <a:p>
            <a:pPr algn="ctr">
              <a:lnSpc>
                <a:spcPts val="1679"/>
              </a:lnSpc>
              <a:spcBef>
                <a:spcPct val="0"/>
              </a:spcBef>
            </a:pPr>
          </a:p>
        </p:txBody>
      </p:sp>
      <p:sp>
        <p:nvSpPr>
          <p:cNvPr name="TextBox 3" id="3"/>
          <p:cNvSpPr txBox="true"/>
          <p:nvPr/>
        </p:nvSpPr>
        <p:spPr>
          <a:xfrm rot="0">
            <a:off x="3325858" y="741264"/>
            <a:ext cx="9525" cy="198120"/>
          </a:xfrm>
          <a:prstGeom prst="rect">
            <a:avLst/>
          </a:prstGeom>
        </p:spPr>
        <p:txBody>
          <a:bodyPr anchor="t" rtlCol="false" tIns="0" lIns="0" bIns="0" rIns="0">
            <a:spAutoFit/>
          </a:bodyPr>
          <a:lstStyle/>
          <a:p>
            <a:pPr algn="ctr">
              <a:lnSpc>
                <a:spcPts val="1679"/>
              </a:lnSpc>
              <a:spcBef>
                <a:spcPct val="0"/>
              </a:spcBef>
            </a:pPr>
          </a:p>
        </p:txBody>
      </p:sp>
      <p:sp>
        <p:nvSpPr>
          <p:cNvPr name="Freeform 4" id="4"/>
          <p:cNvSpPr/>
          <p:nvPr/>
        </p:nvSpPr>
        <p:spPr>
          <a:xfrm flipH="true" flipV="false" rot="10625993">
            <a:off x="-110548" y="-979323"/>
            <a:ext cx="8340832" cy="3461445"/>
          </a:xfrm>
          <a:custGeom>
            <a:avLst/>
            <a:gdLst/>
            <a:ahLst/>
            <a:cxnLst/>
            <a:rect r="r" b="b" t="t" l="l"/>
            <a:pathLst>
              <a:path h="3461445" w="8340832">
                <a:moveTo>
                  <a:pt x="8340832" y="0"/>
                </a:moveTo>
                <a:lnTo>
                  <a:pt x="0" y="0"/>
                </a:lnTo>
                <a:lnTo>
                  <a:pt x="0" y="3461445"/>
                </a:lnTo>
                <a:lnTo>
                  <a:pt x="8340832" y="3461445"/>
                </a:lnTo>
                <a:lnTo>
                  <a:pt x="8340832" y="0"/>
                </a:lnTo>
                <a:close/>
              </a:path>
            </a:pathLst>
          </a:custGeom>
          <a:blipFill>
            <a:blip r:embed="rId2"/>
            <a:stretch>
              <a:fillRect l="0" t="0" r="0" b="0"/>
            </a:stretch>
          </a:blipFill>
        </p:spPr>
      </p:sp>
      <p:grpSp>
        <p:nvGrpSpPr>
          <p:cNvPr name="Group 5" id="5"/>
          <p:cNvGrpSpPr/>
          <p:nvPr/>
        </p:nvGrpSpPr>
        <p:grpSpPr>
          <a:xfrm rot="-952535">
            <a:off x="-219938" y="1775802"/>
            <a:ext cx="2398419" cy="709703"/>
            <a:chOff x="0" y="0"/>
            <a:chExt cx="859539" cy="254342"/>
          </a:xfrm>
        </p:grpSpPr>
        <p:sp>
          <p:nvSpPr>
            <p:cNvPr name="Freeform 6" id="6"/>
            <p:cNvSpPr/>
            <p:nvPr/>
          </p:nvSpPr>
          <p:spPr>
            <a:xfrm flipH="false" flipV="false" rot="0">
              <a:off x="0" y="0"/>
              <a:ext cx="859539" cy="254342"/>
            </a:xfrm>
            <a:custGeom>
              <a:avLst/>
              <a:gdLst/>
              <a:ahLst/>
              <a:cxnLst/>
              <a:rect r="r" b="b" t="t" l="l"/>
              <a:pathLst>
                <a:path h="254342" w="859539">
                  <a:moveTo>
                    <a:pt x="0" y="0"/>
                  </a:moveTo>
                  <a:lnTo>
                    <a:pt x="859539" y="0"/>
                  </a:lnTo>
                  <a:lnTo>
                    <a:pt x="859539" y="254342"/>
                  </a:lnTo>
                  <a:lnTo>
                    <a:pt x="0" y="254342"/>
                  </a:lnTo>
                  <a:close/>
                </a:path>
              </a:pathLst>
            </a:custGeom>
            <a:solidFill>
              <a:srgbClr val="FFFFFF"/>
            </a:solidFill>
          </p:spPr>
        </p:sp>
        <p:sp>
          <p:nvSpPr>
            <p:cNvPr name="TextBox 7" id="7"/>
            <p:cNvSpPr txBox="true"/>
            <p:nvPr/>
          </p:nvSpPr>
          <p:spPr>
            <a:xfrm>
              <a:off x="0" y="0"/>
              <a:ext cx="859539" cy="254342"/>
            </a:xfrm>
            <a:prstGeom prst="rect">
              <a:avLst/>
            </a:prstGeom>
          </p:spPr>
          <p:txBody>
            <a:bodyPr anchor="ctr" rtlCol="false" tIns="50800" lIns="50800" bIns="50800" rIns="50800"/>
            <a:lstStyle/>
            <a:p>
              <a:pPr algn="ctr">
                <a:lnSpc>
                  <a:spcPts val="1976"/>
                </a:lnSpc>
              </a:pPr>
            </a:p>
          </p:txBody>
        </p:sp>
      </p:grpSp>
      <p:sp>
        <p:nvSpPr>
          <p:cNvPr name="TextBox 8" id="8"/>
          <p:cNvSpPr txBox="true"/>
          <p:nvPr/>
        </p:nvSpPr>
        <p:spPr>
          <a:xfrm rot="0">
            <a:off x="228536" y="1196660"/>
            <a:ext cx="872971" cy="516359"/>
          </a:xfrm>
          <a:prstGeom prst="rect">
            <a:avLst/>
          </a:prstGeom>
        </p:spPr>
        <p:txBody>
          <a:bodyPr anchor="t" rtlCol="false" tIns="0" lIns="0" bIns="0" rIns="0">
            <a:spAutoFit/>
          </a:bodyPr>
          <a:lstStyle/>
          <a:p>
            <a:pPr algn="l">
              <a:lnSpc>
                <a:spcPts val="1300"/>
              </a:lnSpc>
            </a:pPr>
            <a:r>
              <a:rPr lang="en-US" sz="1566" spc="-97" b="true">
                <a:solidFill>
                  <a:srgbClr val="3A9DE9"/>
                </a:solidFill>
                <a:latin typeface="Montserrat Bold"/>
                <a:ea typeface="Montserrat Bold"/>
                <a:cs typeface="Montserrat Bold"/>
                <a:sym typeface="Montserrat Bold"/>
              </a:rPr>
              <a:t>G</a:t>
            </a:r>
            <a:r>
              <a:rPr lang="en-US" sz="1566" spc="-97" b="true">
                <a:solidFill>
                  <a:srgbClr val="D5DDDC"/>
                </a:solidFill>
                <a:latin typeface="Montserrat Bold"/>
                <a:ea typeface="Montserrat Bold"/>
                <a:cs typeface="Montserrat Bold"/>
                <a:sym typeface="Montserrat Bold"/>
              </a:rPr>
              <a:t>lobal </a:t>
            </a:r>
            <a:r>
              <a:rPr lang="en-US" sz="1566" spc="-97" b="true">
                <a:solidFill>
                  <a:srgbClr val="3A9DE9"/>
                </a:solidFill>
                <a:latin typeface="Montserrat Bold"/>
                <a:ea typeface="Montserrat Bold"/>
                <a:cs typeface="Montserrat Bold"/>
                <a:sym typeface="Montserrat Bold"/>
              </a:rPr>
              <a:t>S</a:t>
            </a:r>
            <a:r>
              <a:rPr lang="en-US" sz="1566" spc="-97" b="true">
                <a:solidFill>
                  <a:srgbClr val="D5DDDC"/>
                </a:solidFill>
                <a:latin typeface="Montserrat Bold"/>
                <a:ea typeface="Montserrat Bold"/>
                <a:cs typeface="Montserrat Bold"/>
                <a:sym typeface="Montserrat Bold"/>
              </a:rPr>
              <a:t>ecurity </a:t>
            </a:r>
            <a:r>
              <a:rPr lang="en-US" sz="1566" spc="-97" b="true">
                <a:solidFill>
                  <a:srgbClr val="3A9DE9"/>
                </a:solidFill>
                <a:latin typeface="Montserrat Bold"/>
                <a:ea typeface="Montserrat Bold"/>
                <a:cs typeface="Montserrat Bold"/>
                <a:sym typeface="Montserrat Bold"/>
              </a:rPr>
              <a:t>S</a:t>
            </a:r>
            <a:r>
              <a:rPr lang="en-US" sz="1566" spc="-97" b="true">
                <a:solidFill>
                  <a:srgbClr val="D5DDDC"/>
                </a:solidFill>
                <a:latin typeface="Montserrat Bold"/>
                <a:ea typeface="Montserrat Bold"/>
                <a:cs typeface="Montserrat Bold"/>
                <a:sym typeface="Montserrat Bold"/>
              </a:rPr>
              <a:t>olutions</a:t>
            </a:r>
          </a:p>
        </p:txBody>
      </p:sp>
      <p:sp>
        <p:nvSpPr>
          <p:cNvPr name="Freeform 9" id="9"/>
          <p:cNvSpPr/>
          <p:nvPr/>
        </p:nvSpPr>
        <p:spPr>
          <a:xfrm flipH="false" flipV="false" rot="0">
            <a:off x="228536" y="0"/>
            <a:ext cx="2059299" cy="1474690"/>
          </a:xfrm>
          <a:custGeom>
            <a:avLst/>
            <a:gdLst/>
            <a:ahLst/>
            <a:cxnLst/>
            <a:rect r="r" b="b" t="t" l="l"/>
            <a:pathLst>
              <a:path h="1474690" w="2059299">
                <a:moveTo>
                  <a:pt x="0" y="0"/>
                </a:moveTo>
                <a:lnTo>
                  <a:pt x="2059299" y="0"/>
                </a:lnTo>
                <a:lnTo>
                  <a:pt x="2059299" y="1474690"/>
                </a:lnTo>
                <a:lnTo>
                  <a:pt x="0" y="1474690"/>
                </a:lnTo>
                <a:lnTo>
                  <a:pt x="0" y="0"/>
                </a:lnTo>
                <a:close/>
              </a:path>
            </a:pathLst>
          </a:custGeom>
          <a:blipFill>
            <a:blip r:embed="rId3"/>
            <a:stretch>
              <a:fillRect l="-581" t="-2257" r="-94" b="-743"/>
            </a:stretch>
          </a:blipFill>
        </p:spPr>
      </p:sp>
      <p:sp>
        <p:nvSpPr>
          <p:cNvPr name="TextBox 10" id="10"/>
          <p:cNvSpPr txBox="true"/>
          <p:nvPr/>
        </p:nvSpPr>
        <p:spPr>
          <a:xfrm rot="0">
            <a:off x="228536" y="2365323"/>
            <a:ext cx="7093345" cy="3239008"/>
          </a:xfrm>
          <a:prstGeom prst="rect">
            <a:avLst/>
          </a:prstGeom>
        </p:spPr>
        <p:txBody>
          <a:bodyPr anchor="t" rtlCol="false" tIns="0" lIns="0" bIns="0" rIns="0">
            <a:spAutoFit/>
          </a:bodyPr>
          <a:lstStyle/>
          <a:p>
            <a:pPr algn="l">
              <a:lnSpc>
                <a:spcPts val="1100"/>
              </a:lnSpc>
            </a:pPr>
            <a:r>
              <a:rPr lang="en-US" sz="1100" b="true">
                <a:solidFill>
                  <a:srgbClr val="000000"/>
                </a:solidFill>
                <a:latin typeface="Montserrat Bold"/>
                <a:ea typeface="Montserrat Bold"/>
                <a:cs typeface="Montserrat Bold"/>
                <a:sym typeface="Montserrat Bold"/>
              </a:rPr>
              <a:t>9.2. By Us: </a:t>
            </a:r>
            <a:r>
              <a:rPr lang="en-US" sz="1100">
                <a:solidFill>
                  <a:srgbClr val="000000"/>
                </a:solidFill>
                <a:latin typeface="Montserrat"/>
                <a:ea typeface="Montserrat"/>
                <a:cs typeface="Montserrat"/>
                <a:sym typeface="Montserrat"/>
              </a:rPr>
              <a:t>We may terminate this Agreement with immediate effect if you fail to make payment as per the terms or breach any other material clause of this Agreement.</a:t>
            </a:r>
          </a:p>
          <a:p>
            <a:pPr algn="l">
              <a:lnSpc>
                <a:spcPts val="1299"/>
              </a:lnSpc>
            </a:pPr>
          </a:p>
          <a:p>
            <a:pPr algn="l">
              <a:lnSpc>
                <a:spcPts val="1299"/>
              </a:lnSpc>
            </a:pPr>
            <a:r>
              <a:rPr lang="en-US" b="true" sz="1299" u="sng">
                <a:solidFill>
                  <a:srgbClr val="000000"/>
                </a:solidFill>
                <a:latin typeface="Montserrat Bold"/>
                <a:ea typeface="Montserrat Bold"/>
                <a:cs typeface="Montserrat Bold"/>
                <a:sym typeface="Montserrat Bold"/>
                <a:hlinkClick r:id="rId4" tooltip="https://gssolutions.co.za"/>
              </a:rPr>
              <a:t>10. General</a:t>
            </a:r>
          </a:p>
          <a:p>
            <a:pPr algn="l">
              <a:lnSpc>
                <a:spcPts val="1299"/>
              </a:lnSpc>
            </a:pPr>
          </a:p>
          <a:p>
            <a:pPr algn="l">
              <a:lnSpc>
                <a:spcPts val="1100"/>
              </a:lnSpc>
            </a:pPr>
            <a:r>
              <a:rPr lang="en-US" sz="1100" b="true">
                <a:solidFill>
                  <a:srgbClr val="000000"/>
                </a:solidFill>
                <a:latin typeface="Montserrat Bold"/>
                <a:ea typeface="Montserrat Bold"/>
                <a:cs typeface="Montserrat Bold"/>
                <a:sym typeface="Montserrat Bold"/>
              </a:rPr>
              <a:t>10.1</a:t>
            </a:r>
            <a:r>
              <a:rPr lang="en-US" sz="1100" b="true">
                <a:solidFill>
                  <a:srgbClr val="000000"/>
                </a:solidFill>
                <a:latin typeface="Montserrat Bold"/>
                <a:ea typeface="Montserrat Bold"/>
                <a:cs typeface="Montserrat Bold"/>
                <a:sym typeface="Montserrat Bold"/>
                <a:hlinkClick r:id="rId5" tooltip="https://gssolutions.co.za"/>
              </a:rPr>
              <a:t>. Governing Law:</a:t>
            </a:r>
            <a:r>
              <a:rPr lang="en-US" sz="1100">
                <a:solidFill>
                  <a:srgbClr val="000000"/>
                </a:solidFill>
                <a:latin typeface="Montserrat"/>
                <a:ea typeface="Montserrat"/>
                <a:cs typeface="Montserrat"/>
                <a:sym typeface="Montserrat"/>
                <a:hlinkClick r:id="rId6" tooltip="https://gssolutions.co.za"/>
              </a:rPr>
              <a:t> This Agreement shall be governed by and interpreted in accordance with the laws of the Republic of South Africa.</a:t>
            </a:r>
          </a:p>
          <a:p>
            <a:pPr algn="l">
              <a:lnSpc>
                <a:spcPts val="1100"/>
              </a:lnSpc>
            </a:pPr>
          </a:p>
          <a:p>
            <a:pPr algn="l">
              <a:lnSpc>
                <a:spcPts val="1100"/>
              </a:lnSpc>
            </a:pPr>
            <a:r>
              <a:rPr lang="en-US" sz="1100" b="true">
                <a:solidFill>
                  <a:srgbClr val="000000"/>
                </a:solidFill>
                <a:latin typeface="Montserrat Bold"/>
                <a:ea typeface="Montserrat Bold"/>
                <a:cs typeface="Montserrat Bold"/>
                <a:sym typeface="Montserrat Bold"/>
              </a:rPr>
              <a:t>10.2. </a:t>
            </a:r>
            <a:r>
              <a:rPr lang="en-US" sz="1100" b="true">
                <a:solidFill>
                  <a:srgbClr val="000000"/>
                </a:solidFill>
                <a:latin typeface="Montserrat Bold"/>
                <a:ea typeface="Montserrat Bold"/>
                <a:cs typeface="Montserrat Bold"/>
                <a:sym typeface="Montserrat Bold"/>
                <a:hlinkClick r:id="rId7" tooltip="https://gssolutions.co.za"/>
              </a:rPr>
              <a:t>Dispute Resolution: </a:t>
            </a:r>
            <a:r>
              <a:rPr lang="en-US" sz="1100">
                <a:solidFill>
                  <a:srgbClr val="000000"/>
                </a:solidFill>
                <a:latin typeface="Montserrat"/>
                <a:ea typeface="Montserrat"/>
                <a:cs typeface="Montserrat"/>
                <a:sym typeface="Montserrat"/>
                <a:hlinkClick r:id="rId8" tooltip="https://gssolutions.co.za"/>
              </a:rPr>
              <a:t>Should any dispute arise, both parties agree to first attempt to resolve it amicably through negotiation. If unresolved, the matter will be subject to the jurisdiction of the Cape Town courts.</a:t>
            </a:r>
          </a:p>
          <a:p>
            <a:pPr algn="l">
              <a:lnSpc>
                <a:spcPts val="1100"/>
              </a:lnSpc>
            </a:pPr>
          </a:p>
          <a:p>
            <a:pPr algn="l">
              <a:lnSpc>
                <a:spcPts val="1100"/>
              </a:lnSpc>
            </a:pPr>
            <a:r>
              <a:rPr lang="en-US" sz="1100" b="true">
                <a:solidFill>
                  <a:srgbClr val="000000"/>
                </a:solidFill>
                <a:latin typeface="Montserrat Bold"/>
                <a:ea typeface="Montserrat Bold"/>
                <a:cs typeface="Montserrat Bold"/>
                <a:sym typeface="Montserrat Bold"/>
              </a:rPr>
              <a:t>10.3. </a:t>
            </a:r>
            <a:r>
              <a:rPr lang="en-US" sz="1100" b="true">
                <a:solidFill>
                  <a:srgbClr val="000000"/>
                </a:solidFill>
                <a:latin typeface="Montserrat Bold"/>
                <a:ea typeface="Montserrat Bold"/>
                <a:cs typeface="Montserrat Bold"/>
                <a:sym typeface="Montserrat Bold"/>
                <a:hlinkClick r:id="rId9" tooltip="https://gssolutions.co.za"/>
              </a:rPr>
              <a:t>Entire Agreement:</a:t>
            </a:r>
            <a:r>
              <a:rPr lang="en-US" sz="1100">
                <a:solidFill>
                  <a:srgbClr val="000000"/>
                </a:solidFill>
                <a:latin typeface="Montserrat"/>
                <a:ea typeface="Montserrat"/>
                <a:cs typeface="Montserrat"/>
                <a:sym typeface="Montserrat"/>
                <a:hlinkClick r:id="rId10" tooltip="https://gssolutions.co.za"/>
              </a:rPr>
              <a:t> This document and the associated Quotation represent the entire agreement between the parties and supersede all prior communications. Any amendments must be made in writing and signed by both parties.</a:t>
            </a:r>
          </a:p>
          <a:p>
            <a:pPr algn="l">
              <a:lnSpc>
                <a:spcPts val="1100"/>
              </a:lnSpc>
            </a:pPr>
          </a:p>
          <a:p>
            <a:pPr algn="l">
              <a:lnSpc>
                <a:spcPts val="1100"/>
              </a:lnSpc>
            </a:pPr>
            <a:r>
              <a:rPr lang="en-US" sz="1100" b="true">
                <a:solidFill>
                  <a:srgbClr val="000000"/>
                </a:solidFill>
                <a:latin typeface="Montserrat Bold"/>
                <a:ea typeface="Montserrat Bold"/>
                <a:cs typeface="Montserrat Bold"/>
                <a:sym typeface="Montserrat Bold"/>
                <a:hlinkClick r:id="rId11" tooltip="https://gssolutions.co.za"/>
              </a:rPr>
              <a:t>By accepting our Quotation, you acknowledge that you have read, understood, and agree to be bound by these Terms and Conditions.</a:t>
            </a:r>
          </a:p>
          <a:p>
            <a:pPr algn="l">
              <a:lnSpc>
                <a:spcPts val="1100"/>
              </a:lnSpc>
            </a:pPr>
          </a:p>
          <a:p>
            <a:pPr algn="l">
              <a:lnSpc>
                <a:spcPts val="1232"/>
              </a:lnSpc>
            </a:pPr>
            <a:r>
              <a:rPr lang="en-US" sz="1100" b="true">
                <a:solidFill>
                  <a:srgbClr val="000000"/>
                </a:solidFill>
                <a:latin typeface="Montserrat Bold"/>
                <a:ea typeface="Montserrat Bold"/>
                <a:cs typeface="Montserrat Bold"/>
                <a:sym typeface="Montserrat Bold"/>
                <a:hlinkClick r:id="rId12" tooltip="https://gssolutions.co.za"/>
              </a:rPr>
              <a:t>Global Security Solutions</a:t>
            </a:r>
          </a:p>
          <a:p>
            <a:pPr algn="l">
              <a:lnSpc>
                <a:spcPts val="1232"/>
              </a:lnSpc>
            </a:pPr>
            <a:r>
              <a:rPr lang="en-US" sz="1100" b="true">
                <a:solidFill>
                  <a:srgbClr val="000000"/>
                </a:solidFill>
                <a:latin typeface="Montserrat Bold"/>
                <a:ea typeface="Montserrat Bold"/>
                <a:cs typeface="Montserrat Bold"/>
                <a:sym typeface="Montserrat Bold"/>
              </a:rPr>
              <a:t>Website: </a:t>
            </a:r>
            <a:r>
              <a:rPr lang="en-US" sz="1100">
                <a:solidFill>
                  <a:srgbClr val="000000"/>
                </a:solidFill>
                <a:latin typeface="Montserrat"/>
                <a:ea typeface="Montserrat"/>
                <a:cs typeface="Montserrat"/>
                <a:sym typeface="Montserrat"/>
              </a:rPr>
              <a:t>https://globalsecuritysolutions.co.za</a:t>
            </a:r>
          </a:p>
          <a:p>
            <a:pPr algn="l">
              <a:lnSpc>
                <a:spcPts val="1232"/>
              </a:lnSpc>
            </a:pPr>
            <a:r>
              <a:rPr lang="en-US" sz="1100" b="true">
                <a:solidFill>
                  <a:srgbClr val="000000"/>
                </a:solidFill>
                <a:latin typeface="Montserrat Bold"/>
                <a:ea typeface="Montserrat Bold"/>
                <a:cs typeface="Montserrat Bold"/>
                <a:sym typeface="Montserrat Bold"/>
              </a:rPr>
              <a:t>Email:</a:t>
            </a:r>
            <a:r>
              <a:rPr lang="en-US" sz="1100">
                <a:solidFill>
                  <a:srgbClr val="000000"/>
                </a:solidFill>
                <a:latin typeface="Montserrat"/>
                <a:ea typeface="Montserrat"/>
                <a:cs typeface="Montserrat"/>
                <a:sym typeface="Montserrat"/>
              </a:rPr>
              <a:t> </a:t>
            </a:r>
            <a:r>
              <a:rPr lang="en-US" sz="1100">
                <a:solidFill>
                  <a:srgbClr val="000000"/>
                </a:solidFill>
                <a:latin typeface="Montserrat"/>
                <a:ea typeface="Montserrat"/>
                <a:cs typeface="Montserrat"/>
                <a:sym typeface="Montserrat"/>
                <a:hlinkClick r:id="rId13" tooltip="mailto:Kyle@GSSolutions.co.za"/>
              </a:rPr>
              <a:t>Kyl</a:t>
            </a:r>
            <a:r>
              <a:rPr lang="en-US" sz="1100">
                <a:solidFill>
                  <a:srgbClr val="000000"/>
                </a:solidFill>
                <a:latin typeface="Montserrat"/>
                <a:ea typeface="Montserrat"/>
                <a:cs typeface="Montserrat"/>
                <a:sym typeface="Montserrat"/>
              </a:rPr>
              <a:t>e@GlobalSecuritySolutions.co.za</a:t>
            </a:r>
          </a:p>
          <a:p>
            <a:pPr algn="l">
              <a:lnSpc>
                <a:spcPts val="1232"/>
              </a:lnSpc>
            </a:pPr>
            <a:r>
              <a:rPr lang="en-US" sz="1100" b="true">
                <a:solidFill>
                  <a:srgbClr val="000000"/>
                </a:solidFill>
                <a:latin typeface="Montserrat Bold"/>
                <a:ea typeface="Montserrat Bold"/>
                <a:cs typeface="Montserrat Bold"/>
                <a:sym typeface="Montserrat Bold"/>
              </a:rPr>
              <a:t>Contact: </a:t>
            </a:r>
            <a:r>
              <a:rPr lang="en-US" sz="1100">
                <a:solidFill>
                  <a:srgbClr val="000000"/>
                </a:solidFill>
                <a:latin typeface="Montserrat"/>
                <a:ea typeface="Montserrat"/>
                <a:cs typeface="Montserrat"/>
                <a:sym typeface="Montserrat"/>
              </a:rPr>
              <a:t>062 955 8559</a:t>
            </a:r>
          </a:p>
        </p:txBody>
      </p:sp>
      <p:grpSp>
        <p:nvGrpSpPr>
          <p:cNvPr name="Group 11" id="11"/>
          <p:cNvGrpSpPr/>
          <p:nvPr/>
        </p:nvGrpSpPr>
        <p:grpSpPr>
          <a:xfrm rot="0">
            <a:off x="4082791" y="8374948"/>
            <a:ext cx="3239089" cy="1775595"/>
            <a:chOff x="0" y="0"/>
            <a:chExt cx="4318786" cy="2367460"/>
          </a:xfrm>
        </p:grpSpPr>
        <p:sp>
          <p:nvSpPr>
            <p:cNvPr name="TextBox 12" id="12"/>
            <p:cNvSpPr txBox="true"/>
            <p:nvPr/>
          </p:nvSpPr>
          <p:spPr>
            <a:xfrm rot="0">
              <a:off x="0" y="861481"/>
              <a:ext cx="1372942" cy="578976"/>
            </a:xfrm>
            <a:prstGeom prst="rect">
              <a:avLst/>
            </a:prstGeom>
          </p:spPr>
          <p:txBody>
            <a:bodyPr anchor="t" rtlCol="false" tIns="0" lIns="0" bIns="0" rIns="0">
              <a:spAutoFit/>
            </a:bodyPr>
            <a:lstStyle/>
            <a:p>
              <a:pPr algn="r">
                <a:lnSpc>
                  <a:spcPts val="3694"/>
                </a:lnSpc>
              </a:pPr>
              <a:r>
                <a:rPr lang="en-US" b="true" sz="2639" spc="-219">
                  <a:solidFill>
                    <a:srgbClr val="000000"/>
                  </a:solidFill>
                  <a:latin typeface="Montserrat Bold"/>
                  <a:ea typeface="Montserrat Bold"/>
                  <a:cs typeface="Montserrat Bold"/>
                  <a:sym typeface="Montserrat Bold"/>
                </a:rPr>
                <a:t>NAME:</a:t>
              </a:r>
            </a:p>
          </p:txBody>
        </p:sp>
        <p:sp>
          <p:nvSpPr>
            <p:cNvPr name="AutoShape 13" id="13"/>
            <p:cNvSpPr/>
            <p:nvPr/>
          </p:nvSpPr>
          <p:spPr>
            <a:xfrm flipV="true">
              <a:off x="1372942" y="1432812"/>
              <a:ext cx="2945793" cy="7644"/>
            </a:xfrm>
            <a:prstGeom prst="line">
              <a:avLst/>
            </a:prstGeom>
            <a:ln cap="flat" w="39764">
              <a:solidFill>
                <a:srgbClr val="000000"/>
              </a:solidFill>
              <a:prstDash val="solid"/>
              <a:headEnd type="none" len="sm" w="sm"/>
              <a:tailEnd type="none" len="sm" w="sm"/>
            </a:ln>
          </p:spPr>
        </p:sp>
        <p:sp>
          <p:nvSpPr>
            <p:cNvPr name="TextBox 14" id="14"/>
            <p:cNvSpPr txBox="true"/>
            <p:nvPr/>
          </p:nvSpPr>
          <p:spPr>
            <a:xfrm rot="0">
              <a:off x="0" y="-47625"/>
              <a:ext cx="1234651" cy="578976"/>
            </a:xfrm>
            <a:prstGeom prst="rect">
              <a:avLst/>
            </a:prstGeom>
          </p:spPr>
          <p:txBody>
            <a:bodyPr anchor="t" rtlCol="false" tIns="0" lIns="0" bIns="0" rIns="0">
              <a:spAutoFit/>
            </a:bodyPr>
            <a:lstStyle/>
            <a:p>
              <a:pPr algn="r">
                <a:lnSpc>
                  <a:spcPts val="3694"/>
                </a:lnSpc>
              </a:pPr>
              <a:r>
                <a:rPr lang="en-US" b="true" sz="2639" spc="-219">
                  <a:solidFill>
                    <a:srgbClr val="000000"/>
                  </a:solidFill>
                  <a:latin typeface="Montserrat Bold"/>
                  <a:ea typeface="Montserrat Bold"/>
                  <a:cs typeface="Montserrat Bold"/>
                  <a:sym typeface="Montserrat Bold"/>
                </a:rPr>
                <a:t>DATE:</a:t>
              </a:r>
            </a:p>
          </p:txBody>
        </p:sp>
        <p:sp>
          <p:nvSpPr>
            <p:cNvPr name="AutoShape 15" id="15"/>
            <p:cNvSpPr/>
            <p:nvPr/>
          </p:nvSpPr>
          <p:spPr>
            <a:xfrm>
              <a:off x="1234651" y="531351"/>
              <a:ext cx="3084084" cy="0"/>
            </a:xfrm>
            <a:prstGeom prst="line">
              <a:avLst/>
            </a:prstGeom>
            <a:ln cap="flat" w="39764">
              <a:solidFill>
                <a:srgbClr val="000000"/>
              </a:solidFill>
              <a:prstDash val="solid"/>
              <a:headEnd type="none" len="sm" w="sm"/>
              <a:tailEnd type="none" len="sm" w="sm"/>
            </a:ln>
          </p:spPr>
        </p:sp>
        <p:sp>
          <p:nvSpPr>
            <p:cNvPr name="AutoShape 16" id="16"/>
            <p:cNvSpPr/>
            <p:nvPr/>
          </p:nvSpPr>
          <p:spPr>
            <a:xfrm flipV="true">
              <a:off x="1107360" y="2347578"/>
              <a:ext cx="3211374" cy="0"/>
            </a:xfrm>
            <a:prstGeom prst="line">
              <a:avLst/>
            </a:prstGeom>
            <a:ln cap="flat" w="39764">
              <a:solidFill>
                <a:srgbClr val="000000"/>
              </a:solidFill>
              <a:prstDash val="solid"/>
              <a:headEnd type="none" len="sm" w="sm"/>
              <a:tailEnd type="none" len="sm" w="sm"/>
            </a:ln>
          </p:spPr>
        </p:sp>
        <p:sp>
          <p:nvSpPr>
            <p:cNvPr name="TextBox 17" id="17"/>
            <p:cNvSpPr txBox="true"/>
            <p:nvPr/>
          </p:nvSpPr>
          <p:spPr>
            <a:xfrm rot="0">
              <a:off x="0" y="1768602"/>
              <a:ext cx="1107360" cy="578976"/>
            </a:xfrm>
            <a:prstGeom prst="rect">
              <a:avLst/>
            </a:prstGeom>
          </p:spPr>
          <p:txBody>
            <a:bodyPr anchor="t" rtlCol="false" tIns="0" lIns="0" bIns="0" rIns="0">
              <a:spAutoFit/>
            </a:bodyPr>
            <a:lstStyle/>
            <a:p>
              <a:pPr algn="r">
                <a:lnSpc>
                  <a:spcPts val="3694"/>
                </a:lnSpc>
              </a:pPr>
              <a:r>
                <a:rPr lang="en-US" b="true" sz="2639" spc="-219">
                  <a:solidFill>
                    <a:srgbClr val="000000"/>
                  </a:solidFill>
                  <a:latin typeface="Montserrat Bold"/>
                  <a:ea typeface="Montserrat Bold"/>
                  <a:cs typeface="Montserrat Bold"/>
                  <a:sym typeface="Montserrat Bold"/>
                </a:rPr>
                <a:t>SIGN:</a:t>
              </a:r>
            </a:p>
          </p:txBody>
        </p:sp>
      </p:grpSp>
      <p:sp>
        <p:nvSpPr>
          <p:cNvPr name="TextBox 18" id="18"/>
          <p:cNvSpPr txBox="true"/>
          <p:nvPr/>
        </p:nvSpPr>
        <p:spPr>
          <a:xfrm rot="0">
            <a:off x="2308582" y="153462"/>
            <a:ext cx="5013299" cy="968119"/>
          </a:xfrm>
          <a:prstGeom prst="rect">
            <a:avLst/>
          </a:prstGeom>
        </p:spPr>
        <p:txBody>
          <a:bodyPr anchor="t" rtlCol="false" tIns="0" lIns="0" bIns="0" rIns="0">
            <a:spAutoFit/>
          </a:bodyPr>
          <a:lstStyle/>
          <a:p>
            <a:pPr algn="ctr">
              <a:lnSpc>
                <a:spcPts val="2508"/>
              </a:lnSpc>
            </a:pPr>
            <a:r>
              <a:rPr lang="en-US" b="true" sz="2818" spc="-166">
                <a:solidFill>
                  <a:srgbClr val="D5DDDC"/>
                </a:solidFill>
                <a:latin typeface="Montserrat Bold"/>
                <a:ea typeface="Montserrat Bold"/>
                <a:cs typeface="Montserrat Bold"/>
                <a:sym typeface="Montserrat Bold"/>
              </a:rPr>
              <a:t>GENERAL TERMS </a:t>
            </a:r>
          </a:p>
          <a:p>
            <a:pPr algn="ctr">
              <a:lnSpc>
                <a:spcPts val="2508"/>
              </a:lnSpc>
            </a:pPr>
            <a:r>
              <a:rPr lang="en-US" b="true" sz="2818" spc="-166">
                <a:solidFill>
                  <a:srgbClr val="D5DDDC"/>
                </a:solidFill>
                <a:latin typeface="Montserrat Bold"/>
                <a:ea typeface="Montserrat Bold"/>
                <a:cs typeface="Montserrat Bold"/>
                <a:sym typeface="Montserrat Bold"/>
              </a:rPr>
              <a:t>&amp;</a:t>
            </a:r>
          </a:p>
          <a:p>
            <a:pPr algn="ctr">
              <a:lnSpc>
                <a:spcPts val="2508"/>
              </a:lnSpc>
            </a:pPr>
            <a:r>
              <a:rPr lang="en-US" b="true" sz="2818" spc="-166">
                <a:solidFill>
                  <a:srgbClr val="D5DDDC"/>
                </a:solidFill>
                <a:latin typeface="Montserrat Bold"/>
                <a:ea typeface="Montserrat Bold"/>
                <a:cs typeface="Montserrat Bold"/>
                <a:sym typeface="Montserrat Bold"/>
              </a:rPr>
              <a:t>CONDITIONS OF QUOTATION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94612" y="4698423"/>
            <a:ext cx="27939" cy="591934"/>
          </a:xfrm>
          <a:prstGeom prst="rect">
            <a:avLst/>
          </a:prstGeom>
        </p:spPr>
        <p:txBody>
          <a:bodyPr anchor="t" rtlCol="false" tIns="0" lIns="0" bIns="0" rIns="0">
            <a:spAutoFit/>
          </a:bodyPr>
          <a:lstStyle/>
          <a:p>
            <a:pPr algn="ctr">
              <a:lnSpc>
                <a:spcPts val="4927"/>
              </a:lnSpc>
              <a:spcBef>
                <a:spcPct val="0"/>
              </a:spcBef>
            </a:pPr>
          </a:p>
        </p:txBody>
      </p:sp>
      <p:sp>
        <p:nvSpPr>
          <p:cNvPr name="TextBox 3" id="3"/>
          <p:cNvSpPr txBox="true"/>
          <p:nvPr/>
        </p:nvSpPr>
        <p:spPr>
          <a:xfrm rot="0">
            <a:off x="133634" y="2338221"/>
            <a:ext cx="7292732" cy="7861066"/>
          </a:xfrm>
          <a:prstGeom prst="rect">
            <a:avLst/>
          </a:prstGeom>
        </p:spPr>
        <p:txBody>
          <a:bodyPr anchor="t" rtlCol="false" tIns="0" lIns="0" bIns="0" rIns="0">
            <a:spAutoFit/>
          </a:bodyPr>
          <a:lstStyle/>
          <a:p>
            <a:pPr algn="ctr">
              <a:lnSpc>
                <a:spcPts val="1664"/>
              </a:lnSpc>
            </a:pPr>
            <a:r>
              <a:rPr lang="en-US" b="true" sz="1102" u="sng">
                <a:solidFill>
                  <a:srgbClr val="000000"/>
                </a:solidFill>
                <a:latin typeface="Montserrat Bold"/>
                <a:ea typeface="Montserrat Bold"/>
                <a:cs typeface="Montserrat Bold"/>
                <a:sym typeface="Montserrat Bold"/>
              </a:rPr>
              <a:t>Global Security Solutions - Subcontracting Terms and Conditions for Labor-Only Services</a:t>
            </a:r>
          </a:p>
          <a:p>
            <a:pPr algn="l">
              <a:lnSpc>
                <a:spcPts val="1173"/>
              </a:lnSpc>
            </a:pPr>
          </a:p>
          <a:p>
            <a:pPr algn="l">
              <a:lnSpc>
                <a:spcPts val="1173"/>
              </a:lnSpc>
            </a:pPr>
            <a:r>
              <a:rPr lang="en-US" sz="776">
                <a:solidFill>
                  <a:srgbClr val="000000"/>
                </a:solidFill>
                <a:latin typeface="Montserrat"/>
                <a:ea typeface="Montserrat"/>
                <a:cs typeface="Montserrat"/>
                <a:sym typeface="Montserrat"/>
              </a:rPr>
              <a:t>Preamble: These terms govern the agreement between the hiring party ("the Contractor") and Global Security Solutions ("the Subcontractor") for the provision of installation, maintenance, or repair labor.</a:t>
            </a:r>
          </a:p>
          <a:p>
            <a:pPr algn="l">
              <a:lnSpc>
                <a:spcPts val="1173"/>
              </a:lnSpc>
            </a:pPr>
          </a:p>
          <a:p>
            <a:pPr algn="ctr">
              <a:lnSpc>
                <a:spcPts val="1456"/>
              </a:lnSpc>
            </a:pPr>
            <a:r>
              <a:rPr lang="en-US" b="true" sz="964" u="sng">
                <a:solidFill>
                  <a:srgbClr val="000000"/>
                </a:solidFill>
                <a:latin typeface="Montserrat Bold"/>
                <a:ea typeface="Montserrat Bold"/>
                <a:cs typeface="Montserrat Bold"/>
                <a:sym typeface="Montserrat Bold"/>
              </a:rPr>
              <a:t>Part A: General Terms &amp; Conditions</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A1. Relationship of Parties</a:t>
            </a:r>
          </a:p>
          <a:p>
            <a:pPr algn="l">
              <a:lnSpc>
                <a:spcPts val="1173"/>
              </a:lnSpc>
            </a:pPr>
            <a:r>
              <a:rPr lang="en-US" sz="776">
                <a:solidFill>
                  <a:srgbClr val="000000"/>
                </a:solidFill>
                <a:latin typeface="Montserrat"/>
                <a:ea typeface="Montserrat"/>
                <a:cs typeface="Montserrat"/>
                <a:sym typeface="Montserrat"/>
              </a:rPr>
              <a:t>Global Security Solutions (GSS) is engaged as an independent Subcontractor. This agreement does not create an employer/employee relationship. The Contractor is responsible for all end-client communication and management.</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A2. Workmanship Guarantee</a:t>
            </a:r>
          </a:p>
          <a:p>
            <a:pPr algn="l">
              <a:lnSpc>
                <a:spcPts val="1173"/>
              </a:lnSpc>
            </a:pPr>
            <a:r>
              <a:rPr lang="en-US" sz="776">
                <a:solidFill>
                  <a:srgbClr val="000000"/>
                </a:solidFill>
                <a:latin typeface="Montserrat"/>
                <a:ea typeface="Montserrat"/>
                <a:cs typeface="Montserrat"/>
                <a:sym typeface="Montserrat"/>
              </a:rPr>
              <a:t>Th</a:t>
            </a:r>
            <a:r>
              <a:rPr lang="en-US" sz="776">
                <a:solidFill>
                  <a:srgbClr val="000000"/>
                </a:solidFill>
                <a:latin typeface="Montserrat"/>
                <a:ea typeface="Montserrat"/>
                <a:cs typeface="Montserrat"/>
                <a:sym typeface="Montserrat"/>
              </a:rPr>
              <a:t>e Subcontractor provides a twelve (12) month warranty to the Contractor on the quality of its workmanship, covering the direct labour aspect of the installation only.</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A3. Site Readiness and Access</a:t>
            </a:r>
          </a:p>
          <a:p>
            <a:pPr algn="l">
              <a:lnSpc>
                <a:spcPts val="1173"/>
              </a:lnSpc>
            </a:pPr>
            <a:r>
              <a:rPr lang="en-US" sz="776">
                <a:solidFill>
                  <a:srgbClr val="000000"/>
                </a:solidFill>
                <a:latin typeface="Montserrat"/>
                <a:ea typeface="Montserrat"/>
                <a:cs typeface="Montserrat"/>
                <a:sym typeface="Montserrat"/>
              </a:rPr>
              <a:t>The Contractor shall ensure the work site is safe, clear, and ready for work to commence as scheduled, and will arrange for timely access for the Subcontractor's personnel.</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A4. Electrical Power Supply</a:t>
            </a:r>
          </a:p>
          <a:p>
            <a:pPr algn="l">
              <a:lnSpc>
                <a:spcPts val="1173"/>
              </a:lnSpc>
            </a:pPr>
            <a:r>
              <a:rPr lang="en-US" sz="776">
                <a:solidFill>
                  <a:srgbClr val="000000"/>
                </a:solidFill>
                <a:latin typeface="Montserrat"/>
                <a:ea typeface="Montserrat"/>
                <a:cs typeface="Montserrat"/>
                <a:sym typeface="Montserrat"/>
              </a:rPr>
              <a:t>The Contractor is responsible for ensuring a dedicated 220V AC electrical power supply is available at all points required for the system's operation before work commences.</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A5. Limitation of Liability</a:t>
            </a:r>
          </a:p>
          <a:p>
            <a:pPr algn="l">
              <a:lnSpc>
                <a:spcPts val="1173"/>
              </a:lnSpc>
            </a:pPr>
            <a:r>
              <a:rPr lang="en-US" sz="776">
                <a:solidFill>
                  <a:srgbClr val="000000"/>
                </a:solidFill>
                <a:latin typeface="Montserrat"/>
                <a:ea typeface="Montserrat"/>
                <a:cs typeface="Montserrat"/>
                <a:sym typeface="Montserrat"/>
              </a:rPr>
              <a:t>The Subcontractor shall not be held liable for:</a:t>
            </a:r>
          </a:p>
          <a:p>
            <a:pPr algn="l">
              <a:lnSpc>
                <a:spcPts val="1173"/>
              </a:lnSpc>
            </a:pPr>
          </a:p>
          <a:p>
            <a:pPr algn="l" marL="167732" indent="-83866" lvl="1">
              <a:lnSpc>
                <a:spcPts val="1173"/>
              </a:lnSpc>
              <a:buFont typeface="Arial"/>
              <a:buChar char="•"/>
            </a:pPr>
            <a:r>
              <a:rPr lang="en-US" sz="776">
                <a:solidFill>
                  <a:srgbClr val="000000"/>
                </a:solidFill>
                <a:latin typeface="Montserrat"/>
                <a:ea typeface="Montserrat"/>
                <a:cs typeface="Montserrat"/>
                <a:sym typeface="Montserrat"/>
              </a:rPr>
              <a:t>Any pre-existing conditions on the site, including faulty wiring or structural issues.</a:t>
            </a:r>
          </a:p>
          <a:p>
            <a:pPr algn="l" marL="167732" indent="-83866" lvl="1">
              <a:lnSpc>
                <a:spcPts val="1173"/>
              </a:lnSpc>
              <a:buFont typeface="Arial"/>
              <a:buChar char="•"/>
            </a:pPr>
            <a:r>
              <a:rPr lang="en-US" sz="776">
                <a:solidFill>
                  <a:srgbClr val="000000"/>
                </a:solidFill>
                <a:latin typeface="Montserrat"/>
                <a:ea typeface="Montserrat"/>
                <a:cs typeface="Montserrat"/>
                <a:sym typeface="Montserrat"/>
              </a:rPr>
              <a:t>Damages resulting from the actions or negligence of the Contractor, the end-client, or any other third party.</a:t>
            </a:r>
          </a:p>
          <a:p>
            <a:pPr algn="l" marL="167732" indent="-83866" lvl="1">
              <a:lnSpc>
                <a:spcPts val="1173"/>
              </a:lnSpc>
              <a:buFont typeface="Arial"/>
              <a:buChar char="•"/>
            </a:pPr>
            <a:r>
              <a:rPr lang="en-US" sz="776">
                <a:solidFill>
                  <a:srgbClr val="000000"/>
                </a:solidFill>
                <a:latin typeface="Montserrat"/>
                <a:ea typeface="Montserrat"/>
                <a:cs typeface="Montserrat"/>
                <a:sym typeface="Montserrat"/>
              </a:rPr>
              <a:t>Any failure, damage, or incompatibility of materials, components, or equipment supplied by the Contractor or the end-client.</a:t>
            </a:r>
          </a:p>
          <a:p>
            <a:pPr algn="l" marL="167732" indent="-83866" lvl="1">
              <a:lnSpc>
                <a:spcPts val="1173"/>
              </a:lnSpc>
              <a:buFont typeface="Arial"/>
              <a:buChar char="•"/>
            </a:pPr>
            <a:r>
              <a:rPr lang="en-US" sz="776">
                <a:solidFill>
                  <a:srgbClr val="000000"/>
                </a:solidFill>
                <a:latin typeface="Montserrat"/>
                <a:ea typeface="Montserrat"/>
                <a:cs typeface="Montserrat"/>
                <a:sym typeface="Montserrat"/>
              </a:rPr>
              <a:t>Any indirect or consequential damages, including, but not limited to, loss of profit, business interruption, loss of data, or costs arising from system failure.</a:t>
            </a:r>
          </a:p>
          <a:p>
            <a:pPr algn="l">
              <a:lnSpc>
                <a:spcPts val="1173"/>
              </a:lnSpc>
            </a:pPr>
          </a:p>
          <a:p>
            <a:pPr algn="l">
              <a:lnSpc>
                <a:spcPts val="1173"/>
              </a:lnSpc>
            </a:pPr>
            <a:r>
              <a:rPr lang="en-US" sz="776">
                <a:solidFill>
                  <a:srgbClr val="000000"/>
                </a:solidFill>
                <a:latin typeface="Montserrat"/>
                <a:ea typeface="Montserrat"/>
                <a:cs typeface="Montserrat"/>
                <a:sym typeface="Montserrat"/>
              </a:rPr>
              <a:t>The</a:t>
            </a:r>
            <a:r>
              <a:rPr lang="en-US" sz="776">
                <a:solidFill>
                  <a:srgbClr val="000000"/>
                </a:solidFill>
                <a:latin typeface="Montserrat"/>
                <a:ea typeface="Montserrat"/>
                <a:cs typeface="Montserrat"/>
                <a:sym typeface="Montserrat"/>
              </a:rPr>
              <a:t> Subcontractor's total liability for any direct damages shall not exceed the amount paid by the Contractor for the specific work that is the subject of the claim.</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A6. Delays and Standby Time</a:t>
            </a:r>
          </a:p>
          <a:p>
            <a:pPr algn="l">
              <a:lnSpc>
                <a:spcPts val="1173"/>
              </a:lnSpc>
            </a:pPr>
            <a:r>
              <a:rPr lang="en-US" sz="776">
                <a:solidFill>
                  <a:srgbClr val="000000"/>
                </a:solidFill>
                <a:latin typeface="Montserrat"/>
                <a:ea typeface="Montserrat"/>
                <a:cs typeface="Montserrat"/>
                <a:sym typeface="Montserrat"/>
              </a:rPr>
              <a:t>The Subcontractor's pricing is based on the continuous, unimpeded execution of the work. If the Subcontractor's personnel are unable to work for reasons within the Contractor's control (including but not limited to lack of site access, incorrect materials, or delays by other trades), the time lost will be billed to the Contractor as standby time at the Subcontractor's standard hourly labor rate.</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A7. Variations to Scope of Work</a:t>
            </a:r>
          </a:p>
          <a:p>
            <a:pPr algn="l">
              <a:lnSpc>
                <a:spcPts val="1173"/>
              </a:lnSpc>
            </a:pPr>
            <a:r>
              <a:rPr lang="en-US" sz="776">
                <a:solidFill>
                  <a:srgbClr val="000000"/>
                </a:solidFill>
                <a:latin typeface="Montserrat"/>
                <a:ea typeface="Montserrat"/>
                <a:cs typeface="Montserrat"/>
                <a:sym typeface="Montserrat"/>
              </a:rPr>
              <a:t>Any changes or additions to the agreed scope of work must be documented in a written "Variation Order" and signed by both the Contractor and Subcontractor before the additional work is performed. All varied work will be billed at the Subcontractor's standard rates unless otherwise agreed in writing.</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A8. Dispute Resolution</a:t>
            </a:r>
          </a:p>
          <a:p>
            <a:pPr algn="l">
              <a:lnSpc>
                <a:spcPts val="1173"/>
              </a:lnSpc>
            </a:pPr>
            <a:r>
              <a:rPr lang="en-US" sz="776">
                <a:solidFill>
                  <a:srgbClr val="000000"/>
                </a:solidFill>
                <a:latin typeface="Montserrat"/>
                <a:ea typeface="Montserrat"/>
                <a:cs typeface="Montserrat"/>
                <a:sym typeface="Montserrat"/>
              </a:rPr>
              <a:t>Should any dispute arise between the parties, they agree to first attempt to resolve it through direct negotiation. If the dispute is not resolved within fourteen (14) days, both parties agree to refer the matter to a mutually agreed-upon mediator before pursuing any other legal remedies. The costs of mediation shall be shared equally.</a:t>
            </a:r>
          </a:p>
          <a:p>
            <a:pPr algn="l">
              <a:lnSpc>
                <a:spcPts val="1173"/>
              </a:lnSpc>
            </a:pPr>
          </a:p>
          <a:p>
            <a:pPr algn="l">
              <a:lnSpc>
                <a:spcPts val="1267"/>
              </a:lnSpc>
            </a:pPr>
            <a:r>
              <a:rPr lang="en-US" sz="839" b="true">
                <a:solidFill>
                  <a:srgbClr val="000000"/>
                </a:solidFill>
                <a:latin typeface="Montserrat Bold"/>
                <a:ea typeface="Montserrat Bold"/>
                <a:cs typeface="Montserrat Bold"/>
                <a:sym typeface="Montserrat Bold"/>
              </a:rPr>
              <a:t>A9</a:t>
            </a:r>
            <a:r>
              <a:rPr lang="en-US" sz="839" b="true">
                <a:solidFill>
                  <a:srgbClr val="000000"/>
                </a:solidFill>
                <a:latin typeface="Montserrat Bold"/>
                <a:ea typeface="Montserrat Bold"/>
                <a:cs typeface="Montserrat Bold"/>
                <a:sym typeface="Montserrat Bold"/>
              </a:rPr>
              <a:t>. Errors and Omissions Excepted (E&amp;OE)</a:t>
            </a:r>
          </a:p>
          <a:p>
            <a:pPr algn="l">
              <a:lnSpc>
                <a:spcPts val="1173"/>
              </a:lnSpc>
            </a:pPr>
            <a:r>
              <a:rPr lang="en-US" sz="776">
                <a:solidFill>
                  <a:srgbClr val="000000"/>
                </a:solidFill>
                <a:latin typeface="Montserrat"/>
                <a:ea typeface="Montserrat"/>
                <a:cs typeface="Montserrat"/>
                <a:sym typeface="Montserrat"/>
              </a:rPr>
              <a:t>The Subcontractor reserves the right to correct any typographical errors or omissions in any documentation.</a:t>
            </a:r>
          </a:p>
        </p:txBody>
      </p:sp>
      <p:sp>
        <p:nvSpPr>
          <p:cNvPr name="TextBox 4" id="4"/>
          <p:cNvSpPr txBox="true"/>
          <p:nvPr/>
        </p:nvSpPr>
        <p:spPr>
          <a:xfrm rot="0">
            <a:off x="3325858" y="741264"/>
            <a:ext cx="9525" cy="198120"/>
          </a:xfrm>
          <a:prstGeom prst="rect">
            <a:avLst/>
          </a:prstGeom>
        </p:spPr>
        <p:txBody>
          <a:bodyPr anchor="t" rtlCol="false" tIns="0" lIns="0" bIns="0" rIns="0">
            <a:spAutoFit/>
          </a:bodyPr>
          <a:lstStyle/>
          <a:p>
            <a:pPr algn="ctr">
              <a:lnSpc>
                <a:spcPts val="1679"/>
              </a:lnSpc>
              <a:spcBef>
                <a:spcPct val="0"/>
              </a:spcBef>
            </a:pPr>
          </a:p>
        </p:txBody>
      </p:sp>
      <p:grpSp>
        <p:nvGrpSpPr>
          <p:cNvPr name="Group 5" id="5"/>
          <p:cNvGrpSpPr/>
          <p:nvPr/>
        </p:nvGrpSpPr>
        <p:grpSpPr>
          <a:xfrm rot="0">
            <a:off x="157947" y="10235287"/>
            <a:ext cx="7402053" cy="456713"/>
            <a:chOff x="0" y="0"/>
            <a:chExt cx="9869404" cy="608950"/>
          </a:xfrm>
        </p:grpSpPr>
        <p:sp>
          <p:nvSpPr>
            <p:cNvPr name="AutoShape 6" id="6"/>
            <p:cNvSpPr/>
            <p:nvPr/>
          </p:nvSpPr>
          <p:spPr>
            <a:xfrm>
              <a:off x="1020501" y="405130"/>
              <a:ext cx="3216081" cy="19050"/>
            </a:xfrm>
            <a:prstGeom prst="line">
              <a:avLst/>
            </a:prstGeom>
            <a:ln cap="flat" w="38100">
              <a:solidFill>
                <a:srgbClr val="021B3B"/>
              </a:solidFill>
              <a:prstDash val="solid"/>
              <a:headEnd type="none" len="sm" w="sm"/>
              <a:tailEnd type="none" len="sm" w="sm"/>
            </a:ln>
          </p:spPr>
        </p:sp>
        <p:sp>
          <p:nvSpPr>
            <p:cNvPr name="TextBox 7" id="7"/>
            <p:cNvSpPr txBox="true"/>
            <p:nvPr/>
          </p:nvSpPr>
          <p:spPr>
            <a:xfrm rot="0">
              <a:off x="0" y="-38100"/>
              <a:ext cx="1020501" cy="462280"/>
            </a:xfrm>
            <a:prstGeom prst="rect">
              <a:avLst/>
            </a:prstGeom>
          </p:spPr>
          <p:txBody>
            <a:bodyPr anchor="t" rtlCol="false" tIns="0" lIns="0" bIns="0" rIns="0">
              <a:spAutoFit/>
            </a:bodyPr>
            <a:lstStyle/>
            <a:p>
              <a:pPr algn="l" marL="0" indent="0" lvl="0">
                <a:lnSpc>
                  <a:spcPts val="2940"/>
                </a:lnSpc>
                <a:spcBef>
                  <a:spcPct val="0"/>
                </a:spcBef>
              </a:pPr>
              <a:r>
                <a:rPr lang="en-US" b="true" sz="2100">
                  <a:solidFill>
                    <a:srgbClr val="021B3B"/>
                  </a:solidFill>
                  <a:latin typeface="Montserrat Bold"/>
                  <a:ea typeface="Montserrat Bold"/>
                  <a:cs typeface="Montserrat Bold"/>
                  <a:sym typeface="Montserrat Bold"/>
                </a:rPr>
                <a:t>Sign:</a:t>
              </a:r>
            </a:p>
          </p:txBody>
        </p:sp>
        <p:sp>
          <p:nvSpPr>
            <p:cNvPr name="TextBox 8" id="8"/>
            <p:cNvSpPr txBox="true"/>
            <p:nvPr/>
          </p:nvSpPr>
          <p:spPr>
            <a:xfrm rot="0">
              <a:off x="8622838" y="332082"/>
              <a:ext cx="1246565" cy="276868"/>
            </a:xfrm>
            <a:prstGeom prst="rect">
              <a:avLst/>
            </a:prstGeom>
          </p:spPr>
          <p:txBody>
            <a:bodyPr anchor="t" rtlCol="false" tIns="0" lIns="0" bIns="0" rIns="0">
              <a:spAutoFit/>
            </a:bodyPr>
            <a:lstStyle/>
            <a:p>
              <a:pPr algn="l" marL="0" indent="0" lvl="0">
                <a:lnSpc>
                  <a:spcPts val="1786"/>
                </a:lnSpc>
                <a:spcBef>
                  <a:spcPct val="0"/>
                </a:spcBef>
              </a:pPr>
              <a:r>
                <a:rPr lang="en-US" b="true" sz="1276">
                  <a:solidFill>
                    <a:srgbClr val="021B3B"/>
                  </a:solidFill>
                  <a:latin typeface="Montserrat Bold"/>
                  <a:ea typeface="Montserrat Bold"/>
                  <a:cs typeface="Montserrat Bold"/>
                  <a:sym typeface="Montserrat Bold"/>
                </a:rPr>
                <a:t>Page 1 of 2</a:t>
              </a:r>
            </a:p>
          </p:txBody>
        </p:sp>
      </p:grpSp>
      <p:grpSp>
        <p:nvGrpSpPr>
          <p:cNvPr name="Group 9" id="9"/>
          <p:cNvGrpSpPr/>
          <p:nvPr/>
        </p:nvGrpSpPr>
        <p:grpSpPr>
          <a:xfrm rot="0">
            <a:off x="0" y="-496287"/>
            <a:ext cx="7560000" cy="3137400"/>
            <a:chOff x="0" y="0"/>
            <a:chExt cx="10080000" cy="4183200"/>
          </a:xfrm>
        </p:grpSpPr>
        <p:sp>
          <p:nvSpPr>
            <p:cNvPr name="TextBox 10" id="10"/>
            <p:cNvSpPr txBox="true"/>
            <p:nvPr/>
          </p:nvSpPr>
          <p:spPr>
            <a:xfrm rot="0">
              <a:off x="4434478" y="1656418"/>
              <a:ext cx="12700" cy="257810"/>
            </a:xfrm>
            <a:prstGeom prst="rect">
              <a:avLst/>
            </a:prstGeom>
          </p:spPr>
          <p:txBody>
            <a:bodyPr anchor="t" rtlCol="false" tIns="0" lIns="0" bIns="0" rIns="0">
              <a:spAutoFit/>
            </a:bodyPr>
            <a:lstStyle/>
            <a:p>
              <a:pPr algn="ctr">
                <a:lnSpc>
                  <a:spcPts val="1679"/>
                </a:lnSpc>
                <a:spcBef>
                  <a:spcPct val="0"/>
                </a:spcBef>
              </a:pPr>
            </a:p>
          </p:txBody>
        </p:sp>
        <p:sp>
          <p:nvSpPr>
            <p:cNvPr name="Freeform 11" id="11"/>
            <p:cNvSpPr/>
            <p:nvPr/>
          </p:nvSpPr>
          <p:spPr>
            <a:xfrm flipH="true" flipV="false" rot="-10800000">
              <a:off x="0" y="0"/>
              <a:ext cx="10080000" cy="4183200"/>
            </a:xfrm>
            <a:custGeom>
              <a:avLst/>
              <a:gdLst/>
              <a:ahLst/>
              <a:cxnLst/>
              <a:rect r="r" b="b" t="t" l="l"/>
              <a:pathLst>
                <a:path h="4183200" w="10080000">
                  <a:moveTo>
                    <a:pt x="10080000" y="0"/>
                  </a:moveTo>
                  <a:lnTo>
                    <a:pt x="0" y="0"/>
                  </a:lnTo>
                  <a:lnTo>
                    <a:pt x="0" y="4183200"/>
                  </a:lnTo>
                  <a:lnTo>
                    <a:pt x="10080000" y="4183200"/>
                  </a:lnTo>
                  <a:lnTo>
                    <a:pt x="10080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947468" y="504862"/>
              <a:ext cx="8132532" cy="1682738"/>
            </a:xfrm>
            <a:prstGeom prst="rect">
              <a:avLst/>
            </a:prstGeom>
          </p:spPr>
          <p:txBody>
            <a:bodyPr anchor="t" rtlCol="false" tIns="0" lIns="0" bIns="0" rIns="0">
              <a:spAutoFit/>
            </a:bodyPr>
            <a:lstStyle/>
            <a:p>
              <a:pPr algn="ctr">
                <a:lnSpc>
                  <a:spcPts val="5262"/>
                </a:lnSpc>
                <a:spcBef>
                  <a:spcPct val="0"/>
                </a:spcBef>
              </a:pPr>
              <a:r>
                <a:rPr lang="en-US" b="true" sz="3758">
                  <a:solidFill>
                    <a:srgbClr val="D5DDDC"/>
                  </a:solidFill>
                  <a:latin typeface="Montserrat Bold"/>
                  <a:ea typeface="Montserrat Bold"/>
                  <a:cs typeface="Montserrat Bold"/>
                  <a:sym typeface="Montserrat Bold"/>
                </a:rPr>
                <a:t>General Terms &amp; Conditions of Quotation</a:t>
              </a:r>
            </a:p>
          </p:txBody>
        </p:sp>
        <p:sp>
          <p:nvSpPr>
            <p:cNvPr name="Freeform 13" id="13"/>
            <p:cNvSpPr/>
            <p:nvPr/>
          </p:nvSpPr>
          <p:spPr>
            <a:xfrm flipH="false" flipV="false" rot="0">
              <a:off x="48000" y="661716"/>
              <a:ext cx="1867137" cy="1337080"/>
            </a:xfrm>
            <a:custGeom>
              <a:avLst/>
              <a:gdLst/>
              <a:ahLst/>
              <a:cxnLst/>
              <a:rect r="r" b="b" t="t" l="l"/>
              <a:pathLst>
                <a:path h="1337080" w="1867137">
                  <a:moveTo>
                    <a:pt x="0" y="0"/>
                  </a:moveTo>
                  <a:lnTo>
                    <a:pt x="1867137" y="0"/>
                  </a:lnTo>
                  <a:lnTo>
                    <a:pt x="1867137" y="1337080"/>
                  </a:lnTo>
                  <a:lnTo>
                    <a:pt x="0" y="1337080"/>
                  </a:lnTo>
                  <a:lnTo>
                    <a:pt x="0" y="0"/>
                  </a:lnTo>
                  <a:close/>
                </a:path>
              </a:pathLst>
            </a:custGeom>
            <a:blipFill>
              <a:blip r:embed="rId4"/>
              <a:stretch>
                <a:fillRect l="-581" t="-2257" r="-94" b="-743"/>
              </a:stretch>
            </a:blipFill>
          </p:spPr>
        </p:sp>
        <p:sp>
          <p:nvSpPr>
            <p:cNvPr name="TextBox 14" id="14"/>
            <p:cNvSpPr txBox="true"/>
            <p:nvPr/>
          </p:nvSpPr>
          <p:spPr>
            <a:xfrm rot="0">
              <a:off x="48000" y="1998046"/>
              <a:ext cx="1853861" cy="1102528"/>
            </a:xfrm>
            <a:prstGeom prst="rect">
              <a:avLst/>
            </a:prstGeom>
          </p:spPr>
          <p:txBody>
            <a:bodyPr anchor="t" rtlCol="false" tIns="0" lIns="0" bIns="0" rIns="0">
              <a:spAutoFit/>
            </a:bodyPr>
            <a:lstStyle/>
            <a:p>
              <a:pPr algn="l">
                <a:lnSpc>
                  <a:spcPts val="2070"/>
                </a:lnSpc>
              </a:pPr>
              <a:r>
                <a:rPr lang="en-US" sz="2494" spc="-154" b="true">
                  <a:solidFill>
                    <a:srgbClr val="3A9DE9"/>
                  </a:solidFill>
                  <a:latin typeface="Montserrat Bold"/>
                  <a:ea typeface="Montserrat Bold"/>
                  <a:cs typeface="Montserrat Bold"/>
                  <a:sym typeface="Montserrat Bold"/>
                </a:rPr>
                <a:t>G</a:t>
              </a:r>
              <a:r>
                <a:rPr lang="en-US" sz="2494" spc="-154" b="true">
                  <a:solidFill>
                    <a:srgbClr val="D5DDDC"/>
                  </a:solidFill>
                  <a:latin typeface="Montserrat Bold"/>
                  <a:ea typeface="Montserrat Bold"/>
                  <a:cs typeface="Montserrat Bold"/>
                  <a:sym typeface="Montserrat Bold"/>
                </a:rPr>
                <a:t>lobal </a:t>
              </a:r>
              <a:r>
                <a:rPr lang="en-US" sz="2494" spc="-154" b="true">
                  <a:solidFill>
                    <a:srgbClr val="3A9DE9"/>
                  </a:solidFill>
                  <a:latin typeface="Montserrat Bold"/>
                  <a:ea typeface="Montserrat Bold"/>
                  <a:cs typeface="Montserrat Bold"/>
                  <a:sym typeface="Montserrat Bold"/>
                </a:rPr>
                <a:t>S</a:t>
              </a:r>
              <a:r>
                <a:rPr lang="en-US" sz="2494" spc="-154" b="true">
                  <a:solidFill>
                    <a:srgbClr val="D5DDDC"/>
                  </a:solidFill>
                  <a:latin typeface="Montserrat Bold"/>
                  <a:ea typeface="Montserrat Bold"/>
                  <a:cs typeface="Montserrat Bold"/>
                  <a:sym typeface="Montserrat Bold"/>
                </a:rPr>
                <a:t>ecurity </a:t>
              </a:r>
              <a:r>
                <a:rPr lang="en-US" sz="2494" spc="-154" b="true">
                  <a:solidFill>
                    <a:srgbClr val="3A9DE9"/>
                  </a:solidFill>
                  <a:latin typeface="Montserrat Bold"/>
                  <a:ea typeface="Montserrat Bold"/>
                  <a:cs typeface="Montserrat Bold"/>
                  <a:sym typeface="Montserrat Bold"/>
                </a:rPr>
                <a:t>S</a:t>
              </a:r>
              <a:r>
                <a:rPr lang="en-US" sz="2494" spc="-154" b="true">
                  <a:solidFill>
                    <a:srgbClr val="D5DDDC"/>
                  </a:solidFill>
                  <a:latin typeface="Montserrat Bold"/>
                  <a:ea typeface="Montserrat Bold"/>
                  <a:cs typeface="Montserrat Bold"/>
                  <a:sym typeface="Montserrat Bold"/>
                </a:rPr>
                <a:t>olutions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94612" y="4698423"/>
            <a:ext cx="27939" cy="591934"/>
          </a:xfrm>
          <a:prstGeom prst="rect">
            <a:avLst/>
          </a:prstGeom>
        </p:spPr>
        <p:txBody>
          <a:bodyPr anchor="t" rtlCol="false" tIns="0" lIns="0" bIns="0" rIns="0">
            <a:spAutoFit/>
          </a:bodyPr>
          <a:lstStyle/>
          <a:p>
            <a:pPr algn="ctr">
              <a:lnSpc>
                <a:spcPts val="4927"/>
              </a:lnSpc>
              <a:spcBef>
                <a:spcPct val="0"/>
              </a:spcBef>
            </a:pPr>
          </a:p>
        </p:txBody>
      </p:sp>
      <p:sp>
        <p:nvSpPr>
          <p:cNvPr name="TextBox 3" id="3"/>
          <p:cNvSpPr txBox="true"/>
          <p:nvPr/>
        </p:nvSpPr>
        <p:spPr>
          <a:xfrm rot="0">
            <a:off x="78217" y="2717876"/>
            <a:ext cx="7403567" cy="4054220"/>
          </a:xfrm>
          <a:prstGeom prst="rect">
            <a:avLst/>
          </a:prstGeom>
        </p:spPr>
        <p:txBody>
          <a:bodyPr anchor="t" rtlCol="false" tIns="0" lIns="0" bIns="0" rIns="0">
            <a:spAutoFit/>
          </a:bodyPr>
          <a:lstStyle/>
          <a:p>
            <a:pPr algn="ctr">
              <a:lnSpc>
                <a:spcPts val="1777"/>
              </a:lnSpc>
            </a:pPr>
            <a:r>
              <a:rPr lang="en-US" b="true" sz="1177" u="sng">
                <a:solidFill>
                  <a:srgbClr val="000000"/>
                </a:solidFill>
                <a:latin typeface="Montserrat Bold"/>
                <a:ea typeface="Montserrat Bold"/>
                <a:cs typeface="Montserrat Bold"/>
                <a:sym typeface="Montserrat Bold"/>
              </a:rPr>
              <a:t>Part B: Terms for Labor-Only Projects</a:t>
            </a:r>
          </a:p>
          <a:p>
            <a:pPr algn="l">
              <a:lnSpc>
                <a:spcPts val="1464"/>
              </a:lnSpc>
            </a:pPr>
          </a:p>
          <a:p>
            <a:pPr algn="l">
              <a:lnSpc>
                <a:spcPts val="1568"/>
              </a:lnSpc>
            </a:pPr>
            <a:r>
              <a:rPr lang="en-US" sz="1038" b="true">
                <a:solidFill>
                  <a:srgbClr val="000000"/>
                </a:solidFill>
                <a:latin typeface="Montserrat Bold"/>
                <a:ea typeface="Montserrat Bold"/>
                <a:cs typeface="Montserrat Bold"/>
                <a:sym typeface="Montserrat Bold"/>
              </a:rPr>
              <a:t>B1. Contr</a:t>
            </a:r>
            <a:r>
              <a:rPr lang="en-US" sz="1038" b="true">
                <a:solidFill>
                  <a:srgbClr val="000000"/>
                </a:solidFill>
                <a:latin typeface="Montserrat Bold"/>
                <a:ea typeface="Montserrat Bold"/>
                <a:cs typeface="Montserrat Bold"/>
                <a:sym typeface="Montserrat Bold"/>
              </a:rPr>
              <a:t>actor's Responsibility for Materials</a:t>
            </a:r>
          </a:p>
          <a:p>
            <a:pPr algn="l">
              <a:lnSpc>
                <a:spcPts val="1464"/>
              </a:lnSpc>
            </a:pPr>
            <a:r>
              <a:rPr lang="en-US" sz="969">
                <a:solidFill>
                  <a:srgbClr val="000000"/>
                </a:solidFill>
                <a:latin typeface="Montserrat"/>
                <a:ea typeface="Montserrat"/>
                <a:cs typeface="Montserrat"/>
                <a:sym typeface="Montserrat"/>
              </a:rPr>
              <a:t>The Contractor is responsible for supplying all equipment, materials, fixtures, and fittings. The Contractor must ensure all materials are on-site, correct, compatible, and in good working order to prevent delays. The Subcontractor is not liable for delays or faults arising from incorrect or faulty materials.</a:t>
            </a:r>
          </a:p>
          <a:p>
            <a:pPr algn="l">
              <a:lnSpc>
                <a:spcPts val="1464"/>
              </a:lnSpc>
            </a:pPr>
          </a:p>
          <a:p>
            <a:pPr algn="l">
              <a:lnSpc>
                <a:spcPts val="1568"/>
              </a:lnSpc>
            </a:pPr>
            <a:r>
              <a:rPr lang="en-US" sz="1038" b="true">
                <a:solidFill>
                  <a:srgbClr val="000000"/>
                </a:solidFill>
                <a:latin typeface="Montserrat Bold"/>
                <a:ea typeface="Montserrat Bold"/>
                <a:cs typeface="Montserrat Bold"/>
                <a:sym typeface="Montserrat Bold"/>
              </a:rPr>
              <a:t>B2. Billing and Payment</a:t>
            </a:r>
          </a:p>
          <a:p>
            <a:pPr algn="l">
              <a:lnSpc>
                <a:spcPts val="1464"/>
              </a:lnSpc>
            </a:pPr>
            <a:r>
              <a:rPr lang="en-US" sz="969">
                <a:solidFill>
                  <a:srgbClr val="000000"/>
                </a:solidFill>
                <a:latin typeface="Montserrat"/>
                <a:ea typeface="Montserrat"/>
                <a:cs typeface="Montserrat"/>
                <a:sym typeface="Montserrat"/>
              </a:rPr>
              <a:t>Labor</a:t>
            </a:r>
            <a:r>
              <a:rPr lang="en-US" sz="969">
                <a:solidFill>
                  <a:srgbClr val="000000"/>
                </a:solidFill>
                <a:latin typeface="Montserrat"/>
                <a:ea typeface="Montserrat"/>
                <a:cs typeface="Montserrat"/>
                <a:sym typeface="Montserrat"/>
              </a:rPr>
              <a:t> hours will be reconciled weekly and invoiced to the Contractor every Friday for the preceding week. Payment is due in full by the following Monday. The Subcontractor reserves the right to suspend all work if the Contractor's account is not current.</a:t>
            </a:r>
          </a:p>
          <a:p>
            <a:pPr algn="l">
              <a:lnSpc>
                <a:spcPts val="1464"/>
              </a:lnSpc>
            </a:pPr>
          </a:p>
          <a:p>
            <a:pPr algn="l">
              <a:lnSpc>
                <a:spcPts val="1568"/>
              </a:lnSpc>
            </a:pPr>
            <a:r>
              <a:rPr lang="en-US" sz="1038" b="true">
                <a:solidFill>
                  <a:srgbClr val="000000"/>
                </a:solidFill>
                <a:latin typeface="Montserrat Bold"/>
                <a:ea typeface="Montserrat Bold"/>
                <a:cs typeface="Montserrat Bold"/>
                <a:sym typeface="Montserrat Bold"/>
              </a:rPr>
              <a:t>B3. Equipment Warranty and Liability</a:t>
            </a:r>
          </a:p>
          <a:p>
            <a:pPr algn="l">
              <a:lnSpc>
                <a:spcPts val="1464"/>
              </a:lnSpc>
            </a:pPr>
            <a:r>
              <a:rPr lang="en-US" sz="969">
                <a:solidFill>
                  <a:srgbClr val="000000"/>
                </a:solidFill>
                <a:latin typeface="Montserrat"/>
                <a:ea typeface="Montserrat"/>
                <a:cs typeface="Montserrat"/>
                <a:sym typeface="Montserrat"/>
              </a:rPr>
              <a:t>The Subcontractor provides no warranty on any equipment supplied by the Contractor or end-client. The Contractor is solely responsible for managing all equipment performance issues and warranty claims directly with the manufacturer or supplier.</a:t>
            </a:r>
          </a:p>
          <a:p>
            <a:pPr algn="l">
              <a:lnSpc>
                <a:spcPts val="1464"/>
              </a:lnSpc>
            </a:pPr>
          </a:p>
          <a:p>
            <a:pPr algn="l">
              <a:lnSpc>
                <a:spcPts val="1568"/>
              </a:lnSpc>
            </a:pPr>
            <a:r>
              <a:rPr lang="en-US" sz="1038" b="true">
                <a:solidFill>
                  <a:srgbClr val="000000"/>
                </a:solidFill>
                <a:latin typeface="Montserrat Bold"/>
                <a:ea typeface="Montserrat Bold"/>
                <a:cs typeface="Montserrat Bold"/>
                <a:sym typeface="Montserrat Bold"/>
              </a:rPr>
              <a:t>B4. Termination</a:t>
            </a:r>
          </a:p>
          <a:p>
            <a:pPr algn="l">
              <a:lnSpc>
                <a:spcPts val="1464"/>
              </a:lnSpc>
            </a:pPr>
            <a:r>
              <a:rPr lang="en-US" sz="969">
                <a:solidFill>
                  <a:srgbClr val="000000"/>
                </a:solidFill>
                <a:latin typeface="Montserrat"/>
                <a:ea typeface="Montserrat"/>
                <a:cs typeface="Montserrat"/>
                <a:sym typeface="Montserrat"/>
              </a:rPr>
              <a:t>The Subcontractor may suspend work or terminate this agreement with immediate effect if the Contractor fails to make any payment by the due date or otherwise commits a material breach of these terms. Upon termination, the Contractor is liable for payment for all work completed up to the date of termination, including any materials ordered or costs incurred.</a:t>
            </a:r>
          </a:p>
        </p:txBody>
      </p:sp>
      <p:grpSp>
        <p:nvGrpSpPr>
          <p:cNvPr name="Group 4" id="4"/>
          <p:cNvGrpSpPr/>
          <p:nvPr/>
        </p:nvGrpSpPr>
        <p:grpSpPr>
          <a:xfrm rot="0">
            <a:off x="167384" y="8916848"/>
            <a:ext cx="7392616" cy="1775152"/>
            <a:chOff x="0" y="0"/>
            <a:chExt cx="9856821" cy="2366869"/>
          </a:xfrm>
        </p:grpSpPr>
        <p:sp>
          <p:nvSpPr>
            <p:cNvPr name="AutoShape 5" id="5"/>
            <p:cNvSpPr/>
            <p:nvPr/>
          </p:nvSpPr>
          <p:spPr>
            <a:xfrm>
              <a:off x="1020501" y="1588351"/>
              <a:ext cx="3216081" cy="19050"/>
            </a:xfrm>
            <a:prstGeom prst="line">
              <a:avLst/>
            </a:prstGeom>
            <a:ln cap="flat" w="38100">
              <a:solidFill>
                <a:srgbClr val="021B3B"/>
              </a:solidFill>
              <a:prstDash val="solid"/>
              <a:headEnd type="none" len="sm" w="sm"/>
              <a:tailEnd type="none" len="sm" w="sm"/>
            </a:ln>
          </p:spPr>
        </p:sp>
        <p:sp>
          <p:nvSpPr>
            <p:cNvPr name="TextBox 6" id="6"/>
            <p:cNvSpPr txBox="true"/>
            <p:nvPr/>
          </p:nvSpPr>
          <p:spPr>
            <a:xfrm rot="0">
              <a:off x="0" y="1145121"/>
              <a:ext cx="1020501" cy="462280"/>
            </a:xfrm>
            <a:prstGeom prst="rect">
              <a:avLst/>
            </a:prstGeom>
          </p:spPr>
          <p:txBody>
            <a:bodyPr anchor="t" rtlCol="false" tIns="0" lIns="0" bIns="0" rIns="0">
              <a:spAutoFit/>
            </a:bodyPr>
            <a:lstStyle/>
            <a:p>
              <a:pPr algn="l" marL="0" indent="0" lvl="0">
                <a:lnSpc>
                  <a:spcPts val="2940"/>
                </a:lnSpc>
                <a:spcBef>
                  <a:spcPct val="0"/>
                </a:spcBef>
              </a:pPr>
              <a:r>
                <a:rPr lang="en-US" b="true" sz="2100">
                  <a:solidFill>
                    <a:srgbClr val="021B3B"/>
                  </a:solidFill>
                  <a:latin typeface="Montserrat Bold"/>
                  <a:ea typeface="Montserrat Bold"/>
                  <a:cs typeface="Montserrat Bold"/>
                  <a:sym typeface="Montserrat Bold"/>
                </a:rPr>
                <a:t>Sign:</a:t>
              </a:r>
            </a:p>
          </p:txBody>
        </p:sp>
        <p:sp>
          <p:nvSpPr>
            <p:cNvPr name="TextBox 7" id="7"/>
            <p:cNvSpPr txBox="true"/>
            <p:nvPr/>
          </p:nvSpPr>
          <p:spPr>
            <a:xfrm rot="0">
              <a:off x="8610255" y="2090001"/>
              <a:ext cx="1246565" cy="276868"/>
            </a:xfrm>
            <a:prstGeom prst="rect">
              <a:avLst/>
            </a:prstGeom>
          </p:spPr>
          <p:txBody>
            <a:bodyPr anchor="t" rtlCol="false" tIns="0" lIns="0" bIns="0" rIns="0">
              <a:spAutoFit/>
            </a:bodyPr>
            <a:lstStyle/>
            <a:p>
              <a:pPr algn="l" marL="0" indent="0" lvl="0">
                <a:lnSpc>
                  <a:spcPts val="1786"/>
                </a:lnSpc>
                <a:spcBef>
                  <a:spcPct val="0"/>
                </a:spcBef>
              </a:pPr>
              <a:r>
                <a:rPr lang="en-US" b="true" sz="1276">
                  <a:solidFill>
                    <a:srgbClr val="021B3B"/>
                  </a:solidFill>
                  <a:latin typeface="Montserrat Bold"/>
                  <a:ea typeface="Montserrat Bold"/>
                  <a:cs typeface="Montserrat Bold"/>
                  <a:sym typeface="Montserrat Bold"/>
                </a:rPr>
                <a:t>Page 2 of 2</a:t>
              </a:r>
            </a:p>
          </p:txBody>
        </p:sp>
        <p:sp>
          <p:nvSpPr>
            <p:cNvPr name="TextBox 8" id="8"/>
            <p:cNvSpPr txBox="true"/>
            <p:nvPr/>
          </p:nvSpPr>
          <p:spPr>
            <a:xfrm rot="0">
              <a:off x="5212376" y="-38100"/>
              <a:ext cx="4025711" cy="453959"/>
            </a:xfrm>
            <a:prstGeom prst="rect">
              <a:avLst/>
            </a:prstGeom>
          </p:spPr>
          <p:txBody>
            <a:bodyPr anchor="t" rtlCol="false" tIns="0" lIns="0" bIns="0" rIns="0">
              <a:spAutoFit/>
            </a:bodyPr>
            <a:lstStyle/>
            <a:p>
              <a:pPr algn="l" marL="0" indent="0" lvl="0">
                <a:lnSpc>
                  <a:spcPts val="2884"/>
                </a:lnSpc>
                <a:spcBef>
                  <a:spcPct val="0"/>
                </a:spcBef>
              </a:pPr>
              <a:r>
                <a:rPr lang="en-US" b="true" sz="2060" u="sng">
                  <a:solidFill>
                    <a:srgbClr val="545454"/>
                  </a:solidFill>
                  <a:latin typeface="Montserrat Bold"/>
                  <a:ea typeface="Montserrat Bold"/>
                  <a:cs typeface="Montserrat Bold"/>
                  <a:sym typeface="Montserrat Bold"/>
                </a:rPr>
                <a:t>Payment Information:</a:t>
              </a:r>
            </a:p>
          </p:txBody>
        </p:sp>
        <p:sp>
          <p:nvSpPr>
            <p:cNvPr name="TextBox 9" id="9"/>
            <p:cNvSpPr txBox="true"/>
            <p:nvPr/>
          </p:nvSpPr>
          <p:spPr>
            <a:xfrm rot="0">
              <a:off x="4816821" y="387284"/>
              <a:ext cx="2016457" cy="1239035"/>
            </a:xfrm>
            <a:prstGeom prst="rect">
              <a:avLst/>
            </a:prstGeom>
          </p:spPr>
          <p:txBody>
            <a:bodyPr anchor="t" rtlCol="false" tIns="0" lIns="0" bIns="0" rIns="0">
              <a:spAutoFit/>
            </a:bodyPr>
            <a:lstStyle/>
            <a:p>
              <a:pPr algn="r">
                <a:lnSpc>
                  <a:spcPts val="1913"/>
                </a:lnSpc>
              </a:pPr>
              <a:r>
                <a:rPr lang="en-US" sz="1367" b="true">
                  <a:solidFill>
                    <a:srgbClr val="545454"/>
                  </a:solidFill>
                  <a:latin typeface="Montserrat Bold"/>
                  <a:ea typeface="Montserrat Bold"/>
                  <a:cs typeface="Montserrat Bold"/>
                  <a:sym typeface="Montserrat Bold"/>
                </a:rPr>
                <a:t>Bank:</a:t>
              </a:r>
            </a:p>
            <a:p>
              <a:pPr algn="r">
                <a:lnSpc>
                  <a:spcPts val="1913"/>
                </a:lnSpc>
              </a:pPr>
              <a:r>
                <a:rPr lang="en-US" sz="1367" b="true">
                  <a:solidFill>
                    <a:srgbClr val="545454"/>
                  </a:solidFill>
                  <a:latin typeface="Montserrat Bold"/>
                  <a:ea typeface="Montserrat Bold"/>
                  <a:cs typeface="Montserrat Bold"/>
                  <a:sym typeface="Montserrat Bold"/>
                </a:rPr>
                <a:t>To:</a:t>
              </a:r>
            </a:p>
            <a:p>
              <a:pPr algn="r">
                <a:lnSpc>
                  <a:spcPts val="1913"/>
                </a:lnSpc>
              </a:pPr>
              <a:r>
                <a:rPr lang="en-US" sz="1367" b="true">
                  <a:solidFill>
                    <a:srgbClr val="FF3131"/>
                  </a:solidFill>
                  <a:latin typeface="Montserrat Bold"/>
                  <a:ea typeface="Montserrat Bold"/>
                  <a:cs typeface="Montserrat Bold"/>
                  <a:sym typeface="Montserrat Bold"/>
                </a:rPr>
                <a:t>Savings ACC NR:</a:t>
              </a:r>
            </a:p>
            <a:p>
              <a:pPr algn="r" marL="0" indent="0" lvl="0">
                <a:lnSpc>
                  <a:spcPts val="1913"/>
                </a:lnSpc>
                <a:spcBef>
                  <a:spcPct val="0"/>
                </a:spcBef>
              </a:pPr>
              <a:r>
                <a:rPr lang="en-US" b="true" sz="1367">
                  <a:solidFill>
                    <a:srgbClr val="545454"/>
                  </a:solidFill>
                  <a:latin typeface="Montserrat Bold"/>
                  <a:ea typeface="Montserrat Bold"/>
                  <a:cs typeface="Montserrat Bold"/>
                  <a:sym typeface="Montserrat Bold"/>
                </a:rPr>
                <a:t>Email:</a:t>
              </a:r>
            </a:p>
          </p:txBody>
        </p:sp>
        <p:sp>
          <p:nvSpPr>
            <p:cNvPr name="TextBox 10" id="10"/>
            <p:cNvSpPr txBox="true"/>
            <p:nvPr/>
          </p:nvSpPr>
          <p:spPr>
            <a:xfrm rot="0">
              <a:off x="6887536" y="387284"/>
              <a:ext cx="2746106" cy="1239035"/>
            </a:xfrm>
            <a:prstGeom prst="rect">
              <a:avLst/>
            </a:prstGeom>
          </p:spPr>
          <p:txBody>
            <a:bodyPr anchor="t" rtlCol="false" tIns="0" lIns="0" bIns="0" rIns="0">
              <a:spAutoFit/>
            </a:bodyPr>
            <a:lstStyle/>
            <a:p>
              <a:pPr algn="l">
                <a:lnSpc>
                  <a:spcPts val="1913"/>
                </a:lnSpc>
              </a:pPr>
              <a:r>
                <a:rPr lang="en-US" sz="1367">
                  <a:solidFill>
                    <a:srgbClr val="FF3131"/>
                  </a:solidFill>
                  <a:latin typeface="Montserrat"/>
                  <a:ea typeface="Montserrat"/>
                  <a:cs typeface="Montserrat"/>
                  <a:sym typeface="Montserrat"/>
                </a:rPr>
                <a:t>Capitec Bank</a:t>
              </a:r>
            </a:p>
            <a:p>
              <a:pPr algn="l">
                <a:lnSpc>
                  <a:spcPts val="1913"/>
                </a:lnSpc>
              </a:pPr>
              <a:r>
                <a:rPr lang="en-US" sz="1367">
                  <a:solidFill>
                    <a:srgbClr val="FF3131"/>
                  </a:solidFill>
                  <a:latin typeface="Montserrat"/>
                  <a:ea typeface="Montserrat"/>
                  <a:cs typeface="Montserrat"/>
                  <a:sym typeface="Montserrat"/>
                </a:rPr>
                <a:t>MR K CASS</a:t>
              </a:r>
            </a:p>
            <a:p>
              <a:pPr algn="l">
                <a:lnSpc>
                  <a:spcPts val="1913"/>
                </a:lnSpc>
              </a:pPr>
              <a:r>
                <a:rPr lang="en-US" sz="1367">
                  <a:solidFill>
                    <a:srgbClr val="FF3131"/>
                  </a:solidFill>
                  <a:latin typeface="Montserrat"/>
                  <a:ea typeface="Montserrat"/>
                  <a:cs typeface="Montserrat"/>
                  <a:sym typeface="Montserrat"/>
                </a:rPr>
                <a:t>1495208522</a:t>
              </a:r>
            </a:p>
            <a:p>
              <a:pPr algn="l" marL="0" indent="0" lvl="0">
                <a:lnSpc>
                  <a:spcPts val="1913"/>
                </a:lnSpc>
                <a:spcBef>
                  <a:spcPct val="0"/>
                </a:spcBef>
              </a:pPr>
              <a:r>
                <a:rPr lang="en-US" sz="1367">
                  <a:solidFill>
                    <a:srgbClr val="FF3131"/>
                  </a:solidFill>
                  <a:latin typeface="Montserrat"/>
                  <a:ea typeface="Montserrat"/>
                  <a:cs typeface="Montserrat"/>
                  <a:sym typeface="Montserrat"/>
                </a:rPr>
                <a:t>Kyle@GSSolutions.co.za</a:t>
              </a:r>
            </a:p>
          </p:txBody>
        </p:sp>
      </p:grpSp>
      <p:grpSp>
        <p:nvGrpSpPr>
          <p:cNvPr name="Group 11" id="11"/>
          <p:cNvGrpSpPr/>
          <p:nvPr/>
        </p:nvGrpSpPr>
        <p:grpSpPr>
          <a:xfrm rot="0">
            <a:off x="0" y="-496287"/>
            <a:ext cx="7560000" cy="3137400"/>
            <a:chOff x="0" y="0"/>
            <a:chExt cx="10080000" cy="4183200"/>
          </a:xfrm>
        </p:grpSpPr>
        <p:sp>
          <p:nvSpPr>
            <p:cNvPr name="TextBox 12" id="12"/>
            <p:cNvSpPr txBox="true"/>
            <p:nvPr/>
          </p:nvSpPr>
          <p:spPr>
            <a:xfrm rot="0">
              <a:off x="4434478" y="1656418"/>
              <a:ext cx="12700" cy="257810"/>
            </a:xfrm>
            <a:prstGeom prst="rect">
              <a:avLst/>
            </a:prstGeom>
          </p:spPr>
          <p:txBody>
            <a:bodyPr anchor="t" rtlCol="false" tIns="0" lIns="0" bIns="0" rIns="0">
              <a:spAutoFit/>
            </a:bodyPr>
            <a:lstStyle/>
            <a:p>
              <a:pPr algn="ctr">
                <a:lnSpc>
                  <a:spcPts val="1679"/>
                </a:lnSpc>
                <a:spcBef>
                  <a:spcPct val="0"/>
                </a:spcBef>
              </a:pPr>
            </a:p>
          </p:txBody>
        </p:sp>
        <p:sp>
          <p:nvSpPr>
            <p:cNvPr name="Freeform 13" id="13"/>
            <p:cNvSpPr/>
            <p:nvPr/>
          </p:nvSpPr>
          <p:spPr>
            <a:xfrm flipH="true" flipV="false" rot="-10800000">
              <a:off x="0" y="0"/>
              <a:ext cx="10080000" cy="4183200"/>
            </a:xfrm>
            <a:custGeom>
              <a:avLst/>
              <a:gdLst/>
              <a:ahLst/>
              <a:cxnLst/>
              <a:rect r="r" b="b" t="t" l="l"/>
              <a:pathLst>
                <a:path h="4183200" w="10080000">
                  <a:moveTo>
                    <a:pt x="10080000" y="0"/>
                  </a:moveTo>
                  <a:lnTo>
                    <a:pt x="0" y="0"/>
                  </a:lnTo>
                  <a:lnTo>
                    <a:pt x="0" y="4183200"/>
                  </a:lnTo>
                  <a:lnTo>
                    <a:pt x="10080000" y="4183200"/>
                  </a:lnTo>
                  <a:lnTo>
                    <a:pt x="10080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947468" y="504862"/>
              <a:ext cx="8132532" cy="1682738"/>
            </a:xfrm>
            <a:prstGeom prst="rect">
              <a:avLst/>
            </a:prstGeom>
          </p:spPr>
          <p:txBody>
            <a:bodyPr anchor="t" rtlCol="false" tIns="0" lIns="0" bIns="0" rIns="0">
              <a:spAutoFit/>
            </a:bodyPr>
            <a:lstStyle/>
            <a:p>
              <a:pPr algn="ctr">
                <a:lnSpc>
                  <a:spcPts val="5262"/>
                </a:lnSpc>
                <a:spcBef>
                  <a:spcPct val="0"/>
                </a:spcBef>
              </a:pPr>
              <a:r>
                <a:rPr lang="en-US" b="true" sz="3758">
                  <a:solidFill>
                    <a:srgbClr val="D5DDDC"/>
                  </a:solidFill>
                  <a:latin typeface="Montserrat Bold"/>
                  <a:ea typeface="Montserrat Bold"/>
                  <a:cs typeface="Montserrat Bold"/>
                  <a:sym typeface="Montserrat Bold"/>
                </a:rPr>
                <a:t>General Terms &amp; Conditions of Quotation</a:t>
              </a:r>
            </a:p>
          </p:txBody>
        </p:sp>
        <p:sp>
          <p:nvSpPr>
            <p:cNvPr name="Freeform 15" id="15"/>
            <p:cNvSpPr/>
            <p:nvPr/>
          </p:nvSpPr>
          <p:spPr>
            <a:xfrm flipH="false" flipV="false" rot="0">
              <a:off x="48000" y="661716"/>
              <a:ext cx="1867137" cy="1337080"/>
            </a:xfrm>
            <a:custGeom>
              <a:avLst/>
              <a:gdLst/>
              <a:ahLst/>
              <a:cxnLst/>
              <a:rect r="r" b="b" t="t" l="l"/>
              <a:pathLst>
                <a:path h="1337080" w="1867137">
                  <a:moveTo>
                    <a:pt x="0" y="0"/>
                  </a:moveTo>
                  <a:lnTo>
                    <a:pt x="1867137" y="0"/>
                  </a:lnTo>
                  <a:lnTo>
                    <a:pt x="1867137" y="1337080"/>
                  </a:lnTo>
                  <a:lnTo>
                    <a:pt x="0" y="1337080"/>
                  </a:lnTo>
                  <a:lnTo>
                    <a:pt x="0" y="0"/>
                  </a:lnTo>
                  <a:close/>
                </a:path>
              </a:pathLst>
            </a:custGeom>
            <a:blipFill>
              <a:blip r:embed="rId4"/>
              <a:stretch>
                <a:fillRect l="-581" t="-2257" r="-94" b="-743"/>
              </a:stretch>
            </a:blipFill>
          </p:spPr>
        </p:sp>
        <p:sp>
          <p:nvSpPr>
            <p:cNvPr name="TextBox 16" id="16"/>
            <p:cNvSpPr txBox="true"/>
            <p:nvPr/>
          </p:nvSpPr>
          <p:spPr>
            <a:xfrm rot="0">
              <a:off x="48000" y="1998046"/>
              <a:ext cx="1853861" cy="1102528"/>
            </a:xfrm>
            <a:prstGeom prst="rect">
              <a:avLst/>
            </a:prstGeom>
          </p:spPr>
          <p:txBody>
            <a:bodyPr anchor="t" rtlCol="false" tIns="0" lIns="0" bIns="0" rIns="0">
              <a:spAutoFit/>
            </a:bodyPr>
            <a:lstStyle/>
            <a:p>
              <a:pPr algn="l">
                <a:lnSpc>
                  <a:spcPts val="2070"/>
                </a:lnSpc>
              </a:pPr>
              <a:r>
                <a:rPr lang="en-US" sz="2494" spc="-154" b="true">
                  <a:solidFill>
                    <a:srgbClr val="3A9DE9"/>
                  </a:solidFill>
                  <a:latin typeface="Montserrat Bold"/>
                  <a:ea typeface="Montserrat Bold"/>
                  <a:cs typeface="Montserrat Bold"/>
                  <a:sym typeface="Montserrat Bold"/>
                </a:rPr>
                <a:t>G</a:t>
              </a:r>
              <a:r>
                <a:rPr lang="en-US" sz="2494" spc="-154" b="true">
                  <a:solidFill>
                    <a:srgbClr val="D5DDDC"/>
                  </a:solidFill>
                  <a:latin typeface="Montserrat Bold"/>
                  <a:ea typeface="Montserrat Bold"/>
                  <a:cs typeface="Montserrat Bold"/>
                  <a:sym typeface="Montserrat Bold"/>
                </a:rPr>
                <a:t>lobal </a:t>
              </a:r>
              <a:r>
                <a:rPr lang="en-US" sz="2494" spc="-154" b="true">
                  <a:solidFill>
                    <a:srgbClr val="3A9DE9"/>
                  </a:solidFill>
                  <a:latin typeface="Montserrat Bold"/>
                  <a:ea typeface="Montserrat Bold"/>
                  <a:cs typeface="Montserrat Bold"/>
                  <a:sym typeface="Montserrat Bold"/>
                </a:rPr>
                <a:t>S</a:t>
              </a:r>
              <a:r>
                <a:rPr lang="en-US" sz="2494" spc="-154" b="true">
                  <a:solidFill>
                    <a:srgbClr val="D5DDDC"/>
                  </a:solidFill>
                  <a:latin typeface="Montserrat Bold"/>
                  <a:ea typeface="Montserrat Bold"/>
                  <a:cs typeface="Montserrat Bold"/>
                  <a:sym typeface="Montserrat Bold"/>
                </a:rPr>
                <a:t>ecurity </a:t>
              </a:r>
              <a:r>
                <a:rPr lang="en-US" sz="2494" spc="-154" b="true">
                  <a:solidFill>
                    <a:srgbClr val="3A9DE9"/>
                  </a:solidFill>
                  <a:latin typeface="Montserrat Bold"/>
                  <a:ea typeface="Montserrat Bold"/>
                  <a:cs typeface="Montserrat Bold"/>
                  <a:sym typeface="Montserrat Bold"/>
                </a:rPr>
                <a:t>S</a:t>
              </a:r>
              <a:r>
                <a:rPr lang="en-US" sz="2494" spc="-154" b="true">
                  <a:solidFill>
                    <a:srgbClr val="D5DDDC"/>
                  </a:solidFill>
                  <a:latin typeface="Montserrat Bold"/>
                  <a:ea typeface="Montserrat Bold"/>
                  <a:cs typeface="Montserrat Bold"/>
                  <a:sym typeface="Montserrat Bold"/>
                </a:rPr>
                <a:t>olutions</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F3131"/>
        </a:solidFill>
      </p:bgPr>
    </p:bg>
    <p:spTree>
      <p:nvGrpSpPr>
        <p:cNvPr id="1" name=""/>
        <p:cNvGrpSpPr/>
        <p:nvPr/>
      </p:nvGrpSpPr>
      <p:grpSpPr>
        <a:xfrm>
          <a:off x="0" y="0"/>
          <a:ext cx="0" cy="0"/>
          <a:chOff x="0" y="0"/>
          <a:chExt cx="0" cy="0"/>
        </a:xfrm>
      </p:grpSpPr>
      <p:sp>
        <p:nvSpPr>
          <p:cNvPr name="TextBox 2" id="2"/>
          <p:cNvSpPr txBox="true"/>
          <p:nvPr/>
        </p:nvSpPr>
        <p:spPr>
          <a:xfrm rot="0">
            <a:off x="57150" y="771525"/>
            <a:ext cx="7445700" cy="6104199"/>
          </a:xfrm>
          <a:prstGeom prst="rect">
            <a:avLst/>
          </a:prstGeom>
        </p:spPr>
        <p:txBody>
          <a:bodyPr anchor="t" rtlCol="false" tIns="0" lIns="0" bIns="0" rIns="0">
            <a:spAutoFit/>
          </a:bodyPr>
          <a:lstStyle/>
          <a:p>
            <a:pPr algn="l">
              <a:lnSpc>
                <a:spcPts val="15442"/>
              </a:lnSpc>
            </a:pPr>
            <a:r>
              <a:rPr lang="en-US" b="true" sz="19547" spc="-918">
                <a:solidFill>
                  <a:srgbClr val="D5DDDC"/>
                </a:solidFill>
                <a:latin typeface="Montserrat Bold"/>
                <a:ea typeface="Montserrat Bold"/>
                <a:cs typeface="Montserrat Bold"/>
                <a:sym typeface="Montserrat Bold"/>
              </a:rPr>
              <a:t>DONT MOVE</a:t>
            </a:r>
          </a:p>
          <a:p>
            <a:pPr algn="l">
              <a:lnSpc>
                <a:spcPts val="15442"/>
              </a:lnSpc>
            </a:pPr>
            <a:r>
              <a:rPr lang="en-US" b="true" sz="19547" spc="-918">
                <a:solidFill>
                  <a:srgbClr val="D5DDDC"/>
                </a:solidFill>
                <a:latin typeface="Montserrat Bold"/>
                <a:ea typeface="Montserrat Bold"/>
                <a:cs typeface="Montserrat Bold"/>
                <a:sym typeface="Montserrat Bold"/>
              </a:rPr>
              <a:t>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DAHM0lul1xU</dc:identifier>
  <dcterms:modified xsi:type="dcterms:W3CDTF">2011-08-01T06:04:30Z</dcterms:modified>
  <cp:revision>1</cp:revision>
  <dc:title>PROFORMA INVOICE - Global Security Solutions</dc:title>
</cp:coreProperties>
</file>